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0"/>
  </p:notesMasterIdLst>
  <p:sldIdLst>
    <p:sldId id="337" r:id="rId2"/>
    <p:sldId id="342" r:id="rId3"/>
    <p:sldId id="340" r:id="rId4"/>
    <p:sldId id="341" r:id="rId5"/>
    <p:sldId id="343" r:id="rId6"/>
    <p:sldId id="344" r:id="rId7"/>
    <p:sldId id="345" r:id="rId8"/>
    <p:sldId id="346" r:id="rId9"/>
    <p:sldId id="347" r:id="rId10"/>
    <p:sldId id="349" r:id="rId11"/>
    <p:sldId id="350" r:id="rId12"/>
    <p:sldId id="348" r:id="rId13"/>
    <p:sldId id="351" r:id="rId14"/>
    <p:sldId id="352" r:id="rId15"/>
    <p:sldId id="353" r:id="rId16"/>
    <p:sldId id="356" r:id="rId17"/>
    <p:sldId id="355" r:id="rId18"/>
    <p:sldId id="359" r:id="rId19"/>
    <p:sldId id="361" r:id="rId20"/>
    <p:sldId id="354" r:id="rId21"/>
    <p:sldId id="375" r:id="rId22"/>
    <p:sldId id="357" r:id="rId23"/>
    <p:sldId id="374" r:id="rId24"/>
    <p:sldId id="360" r:id="rId25"/>
    <p:sldId id="358" r:id="rId26"/>
    <p:sldId id="363" r:id="rId27"/>
    <p:sldId id="370" r:id="rId28"/>
    <p:sldId id="376" r:id="rId29"/>
    <p:sldId id="377" r:id="rId30"/>
    <p:sldId id="378" r:id="rId31"/>
    <p:sldId id="371" r:id="rId32"/>
    <p:sldId id="379" r:id="rId33"/>
    <p:sldId id="380" r:id="rId34"/>
    <p:sldId id="381" r:id="rId35"/>
    <p:sldId id="372" r:id="rId36"/>
    <p:sldId id="373" r:id="rId37"/>
    <p:sldId id="388" r:id="rId38"/>
    <p:sldId id="389" r:id="rId39"/>
    <p:sldId id="382" r:id="rId40"/>
    <p:sldId id="368" r:id="rId41"/>
    <p:sldId id="364" r:id="rId42"/>
    <p:sldId id="369" r:id="rId43"/>
    <p:sldId id="383" r:id="rId44"/>
    <p:sldId id="386" r:id="rId45"/>
    <p:sldId id="385" r:id="rId46"/>
    <p:sldId id="387" r:id="rId47"/>
    <p:sldId id="366" r:id="rId48"/>
    <p:sldId id="362" r:id="rId49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3F26"/>
    <a:srgbClr val="72C3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92730" autoAdjust="0"/>
  </p:normalViewPr>
  <p:slideViewPr>
    <p:cSldViewPr>
      <p:cViewPr varScale="1">
        <p:scale>
          <a:sx n="84" d="100"/>
          <a:sy n="84" d="100"/>
        </p:scale>
        <p:origin x="1363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1/16/2026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72C3E8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34" r:id="rId2"/>
    <p:sldLayoutId id="2147484835" r:id="rId3"/>
    <p:sldLayoutId id="2147484836" r:id="rId4"/>
    <p:sldLayoutId id="2147484837" r:id="rId5"/>
    <p:sldLayoutId id="2147484838" r:id="rId6"/>
    <p:sldLayoutId id="2147484839" r:id="rId7"/>
    <p:sldLayoutId id="2147484840" r:id="rId8"/>
    <p:sldLayoutId id="2147484841" r:id="rId9"/>
    <p:sldLayoutId id="2147484842" r:id="rId10"/>
    <p:sldLayoutId id="2147484843" r:id="rId11"/>
    <p:sldLayoutId id="2147484844" r:id="rId12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72C3E8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Computer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7A618-D073-49B1-9988-AC18CCF7F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things that compute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2D1FE8-90F6-4108-8DB8-F36639D2A3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Digital design</a:t>
            </a:r>
          </a:p>
          <a:p>
            <a:r>
              <a:rPr lang="en-US" dirty="0"/>
              <a:t>Combinational logic</a:t>
            </a:r>
          </a:p>
          <a:p>
            <a:r>
              <a:rPr lang="en-US" dirty="0"/>
              <a:t>Memory elements (registers)</a:t>
            </a:r>
          </a:p>
          <a:p>
            <a:r>
              <a:rPr lang="en-US" dirty="0"/>
              <a:t>Synchronous sequential circuits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How do we go from here to the modern computer?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000DF7-75AF-4B3B-8B19-2E9174596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581B45-C52D-4A36-AA04-604312C8E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10205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2680A-7D1E-4C45-BB54-0E793B1D6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things that compute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3AE3C-5716-409D-B3F7-CF9184FC5D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8839200" cy="5030789"/>
          </a:xfrm>
        </p:spPr>
        <p:txBody>
          <a:bodyPr/>
          <a:lstStyle/>
          <a:p>
            <a:r>
              <a:rPr lang="en-US" sz="2800" dirty="0"/>
              <a:t>Sequential circuits</a:t>
            </a:r>
          </a:p>
          <a:p>
            <a:pPr lvl="1"/>
            <a:r>
              <a:rPr lang="en-US" sz="2400" dirty="0"/>
              <a:t>Sequence detector – is it a computer? Sequence generator?</a:t>
            </a:r>
          </a:p>
          <a:p>
            <a:pPr lvl="1"/>
            <a:r>
              <a:rPr lang="en-US" sz="2400" dirty="0"/>
              <a:t>Can we generalize?</a:t>
            </a:r>
          </a:p>
          <a:p>
            <a:pPr lvl="1"/>
            <a:endParaRPr lang="en-US" sz="2400" dirty="0"/>
          </a:p>
          <a:p>
            <a:pPr lvl="1"/>
            <a:endParaRPr lang="en-US" sz="2400" dirty="0"/>
          </a:p>
          <a:p>
            <a:r>
              <a:rPr lang="en-US" sz="2800" dirty="0"/>
              <a:t>Finite State machines</a:t>
            </a:r>
          </a:p>
          <a:p>
            <a:pPr lvl="1"/>
            <a:r>
              <a:rPr lang="en-US" sz="2400" dirty="0"/>
              <a:t>Storage for current state</a:t>
            </a:r>
          </a:p>
          <a:p>
            <a:pPr lvl="1"/>
            <a:r>
              <a:rPr lang="en-US" sz="2400" dirty="0"/>
              <a:t>Combinational circuit to generate o/p and next state based on </a:t>
            </a:r>
            <a:r>
              <a:rPr lang="en-US" sz="2400" dirty="0" err="1"/>
              <a:t>i</a:t>
            </a:r>
            <a:r>
              <a:rPr lang="en-US" sz="2400" dirty="0"/>
              <a:t>/p and current state</a:t>
            </a:r>
          </a:p>
          <a:p>
            <a:pPr lvl="1"/>
            <a:r>
              <a:rPr lang="en-US" sz="2400" dirty="0"/>
              <a:t>Implement the combinational circuit using a ROM (or PLA/PAL)</a:t>
            </a:r>
            <a:endParaRPr lang="en-US" sz="2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0F59D4-1919-4434-928B-44025D754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12D9BB-AAC6-4595-B967-1E7C487FF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4BEF856-3AD9-468A-B86F-0B3FE0DBA1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2590800"/>
            <a:ext cx="5382422" cy="167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D474B71-67D0-4491-BE78-D0A7E10DC7E5}"/>
              </a:ext>
            </a:extLst>
          </p:cNvPr>
          <p:cNvSpPr txBox="1"/>
          <p:nvPr/>
        </p:nvSpPr>
        <p:spPr>
          <a:xfrm>
            <a:off x="6096000" y="6574730"/>
            <a:ext cx="22639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computationstructures.org</a:t>
            </a:r>
          </a:p>
        </p:txBody>
      </p:sp>
    </p:spTree>
    <p:extLst>
      <p:ext uri="{BB962C8B-B14F-4D97-AF65-F5344CB8AC3E}">
        <p14:creationId xmlns:p14="http://schemas.microsoft.com/office/powerpoint/2010/main" val="1275649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D5CBB-059E-48BC-9278-161506489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Finite State Machines can accept instructions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59D0E-ACE7-4643-81D9-05269EF5E2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91ACD4-403A-45E8-90C0-BDAEEE191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6D1FF6F0-0C74-4D28-B57C-8B449E86E21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9958" y="1447800"/>
            <a:ext cx="5584083" cy="3811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EA9302A-76A9-4F2A-9106-9DC771B312C0}"/>
              </a:ext>
            </a:extLst>
          </p:cNvPr>
          <p:cNvSpPr txBox="1">
            <a:spLocks/>
          </p:cNvSpPr>
          <p:nvPr/>
        </p:nvSpPr>
        <p:spPr bwMode="auto">
          <a:xfrm>
            <a:off x="152400" y="5181600"/>
            <a:ext cx="8839200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/>
              <a:t>Write a ROM that takes 2 2-bit numbers from registers as inputs, reads an operation from a 2-bit encoder (+/- buttons pressed by user) and puts the result back in one of the two registers (again specified by user button). It should execute only when the +/- button is pressed, and otherwise go to a ‘waiting’ state.</a:t>
            </a:r>
          </a:p>
        </p:txBody>
      </p:sp>
    </p:spTree>
    <p:extLst>
      <p:ext uri="{BB962C8B-B14F-4D97-AF65-F5344CB8AC3E}">
        <p14:creationId xmlns:p14="http://schemas.microsoft.com/office/powerpoint/2010/main" val="2180041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500B5-2E44-40B2-9DF9-90E7993FB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FSMs with instructions stored in memory = programmable computer!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88D24-A992-46C2-8341-286C5B08C6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read user input (+/-) and executed…</a:t>
            </a:r>
          </a:p>
          <a:p>
            <a:r>
              <a:rPr lang="en-US" dirty="0"/>
              <a:t>Read ‘instruction’ from another memory instead</a:t>
            </a:r>
          </a:p>
          <a:p>
            <a:r>
              <a:rPr lang="en-US" dirty="0"/>
              <a:t>What should instructions specify?</a:t>
            </a:r>
          </a:p>
          <a:p>
            <a:pPr lvl="1"/>
            <a:r>
              <a:rPr lang="en-US" dirty="0"/>
              <a:t>What operation to perform</a:t>
            </a:r>
          </a:p>
          <a:p>
            <a:pPr lvl="1"/>
            <a:r>
              <a:rPr lang="en-US" dirty="0"/>
              <a:t>What data to use?</a:t>
            </a:r>
          </a:p>
          <a:p>
            <a:pPr lvl="1"/>
            <a:r>
              <a:rPr lang="en-US" dirty="0"/>
              <a:t>Where to put results?</a:t>
            </a:r>
          </a:p>
          <a:p>
            <a:pPr lvl="1"/>
            <a:endParaRPr lang="en-US" dirty="0"/>
          </a:p>
          <a:p>
            <a:r>
              <a:rPr lang="en-US" dirty="0"/>
              <a:t>An instruction is a compact description of the above three in a standardized format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6E66E9-CEF7-4580-B1F6-B7D209AC3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ADCB66-A854-4F0C-8155-1877C5701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01613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5925B-C0BC-4FC6-8D70-29E185EED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Implementing the programmable computer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14D6D-3914-4FAB-8A8B-B1C743598F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Remember designing sequential circuits in DD? After making the state table, what did you build?</a:t>
            </a:r>
          </a:p>
          <a:p>
            <a:pPr>
              <a:buFontTx/>
              <a:buChar char="-"/>
            </a:pPr>
            <a:r>
              <a:rPr lang="en-US" dirty="0"/>
              <a:t>Data path</a:t>
            </a:r>
          </a:p>
          <a:p>
            <a:pPr lvl="1">
              <a:buFontTx/>
              <a:buChar char="-"/>
            </a:pPr>
            <a:r>
              <a:rPr lang="en-US" dirty="0"/>
              <a:t>Registers</a:t>
            </a:r>
          </a:p>
          <a:p>
            <a:pPr lvl="1">
              <a:buFontTx/>
              <a:buChar char="-"/>
            </a:pPr>
            <a:r>
              <a:rPr lang="en-US" dirty="0"/>
              <a:t>Memory</a:t>
            </a:r>
          </a:p>
          <a:p>
            <a:pPr lvl="1">
              <a:buFontTx/>
              <a:buChar char="-"/>
            </a:pPr>
            <a:r>
              <a:rPr lang="en-US" dirty="0"/>
              <a:t>ALU</a:t>
            </a:r>
          </a:p>
          <a:p>
            <a:pPr>
              <a:buFontTx/>
              <a:buChar char="-"/>
            </a:pPr>
            <a:r>
              <a:rPr lang="en-US" dirty="0"/>
              <a:t>Control</a:t>
            </a:r>
          </a:p>
          <a:p>
            <a:pPr lvl="1">
              <a:buFontTx/>
              <a:buChar char="-"/>
            </a:pPr>
            <a:r>
              <a:rPr lang="en-US" dirty="0"/>
              <a:t>Which is the FSM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849BD2-057C-43E2-8460-81D566CA7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89B056-9337-4828-BC8D-B124D023D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6685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0F471-139C-4F72-8DB3-8CDFA0A2D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instructions to implement?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550F2-07D6-412F-B16C-5885A788F7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spcBef>
                <a:spcPts val="1000"/>
              </a:spcBef>
              <a:buNone/>
            </a:pPr>
            <a:r>
              <a:rPr lang="en-US" dirty="0"/>
              <a:t>Toy example: FSM to control a traffic light</a:t>
            </a:r>
          </a:p>
          <a:p>
            <a:pPr>
              <a:spcBef>
                <a:spcPts val="1000"/>
              </a:spcBef>
            </a:pPr>
            <a:r>
              <a:rPr lang="en-US" dirty="0"/>
              <a:t>Instructions:</a:t>
            </a:r>
          </a:p>
          <a:p>
            <a:pPr lvl="1">
              <a:spcBef>
                <a:spcPts val="1000"/>
              </a:spcBef>
              <a:buFontTx/>
              <a:buChar char="-"/>
            </a:pPr>
            <a:r>
              <a:rPr lang="en-US" dirty="0"/>
              <a:t>Turn on red light (turns it on for 30 seconds)</a:t>
            </a:r>
          </a:p>
          <a:p>
            <a:pPr lvl="1">
              <a:spcBef>
                <a:spcPts val="1000"/>
              </a:spcBef>
              <a:buFontTx/>
              <a:buChar char="-"/>
            </a:pPr>
            <a:r>
              <a:rPr lang="en-US" dirty="0"/>
              <a:t>Turn on green light (turns it on for 10 seconds)</a:t>
            </a:r>
          </a:p>
          <a:p>
            <a:pPr>
              <a:spcBef>
                <a:spcPts val="1000"/>
              </a:spcBef>
            </a:pPr>
            <a:r>
              <a:rPr lang="en-US" dirty="0"/>
              <a:t>New functionality:</a:t>
            </a:r>
          </a:p>
          <a:p>
            <a:pPr lvl="1">
              <a:spcBef>
                <a:spcPts val="1000"/>
              </a:spcBef>
              <a:buFontTx/>
              <a:buChar char="-"/>
            </a:pPr>
            <a:r>
              <a:rPr lang="en-US" dirty="0"/>
              <a:t>Blink green light on (1s) - off (1s) for 5 seconds (to indicate about to turn red)</a:t>
            </a:r>
          </a:p>
          <a:p>
            <a:pPr lvl="1">
              <a:spcBef>
                <a:spcPts val="1000"/>
              </a:spcBef>
              <a:buFontTx/>
              <a:buChar char="-"/>
            </a:pPr>
            <a:r>
              <a:rPr lang="en-US" dirty="0"/>
              <a:t>Blink red light on (3s) - off (3s) continuously (signal not working)</a:t>
            </a:r>
          </a:p>
          <a:p>
            <a:pPr>
              <a:spcBef>
                <a:spcPts val="1000"/>
              </a:spcBef>
            </a:pPr>
            <a:r>
              <a:rPr lang="en-US" dirty="0"/>
              <a:t>Even more functionality, simply based on toggling lights – even more complexity of FSM!</a:t>
            </a:r>
          </a:p>
          <a:p>
            <a:pPr>
              <a:spcBef>
                <a:spcPts val="1000"/>
              </a:spcBef>
            </a:pPr>
            <a:r>
              <a:rPr lang="en-US" dirty="0"/>
              <a:t>How can we simplify?</a:t>
            </a:r>
          </a:p>
          <a:p>
            <a:pPr>
              <a:spcBef>
                <a:spcPts val="1000"/>
              </a:spcBef>
            </a:pPr>
            <a:r>
              <a:rPr lang="en-US" dirty="0"/>
              <a:t>Only 3 instructions are needed, can you identify?</a:t>
            </a:r>
          </a:p>
          <a:p>
            <a:endParaRPr lang="en-US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9F31FB-A62A-4C16-B30C-183F12D13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C08995-EA0C-4216-9651-7FEE5E6BA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52246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38342-DD28-4D70-8C47-CE1372C32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Instruction Set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8B92D-262E-4672-9605-6E27792F40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8763000" cy="501491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Choice of instructions to implement critical for building efficient computers</a:t>
            </a:r>
          </a:p>
          <a:p>
            <a:pPr lvl="1"/>
            <a:r>
              <a:rPr lang="en-US" dirty="0"/>
              <a:t>Few very basic instructions?</a:t>
            </a:r>
          </a:p>
          <a:p>
            <a:pPr lvl="1"/>
            <a:r>
              <a:rPr lang="en-US" dirty="0"/>
              <a:t>Many complex instructions?</a:t>
            </a:r>
          </a:p>
          <a:p>
            <a:pPr lvl="2"/>
            <a:r>
              <a:rPr lang="en-US" dirty="0"/>
              <a:t>Effect on program size?</a:t>
            </a:r>
          </a:p>
          <a:p>
            <a:pPr lvl="2"/>
            <a:r>
              <a:rPr lang="en-US" dirty="0"/>
              <a:t>Effect on hardware complexity?</a:t>
            </a:r>
          </a:p>
          <a:p>
            <a:pPr lvl="2"/>
            <a:r>
              <a:rPr lang="en-US" dirty="0"/>
              <a:t>Many other parameters that we will discuss later!</a:t>
            </a:r>
          </a:p>
          <a:p>
            <a:r>
              <a:rPr lang="en-US" dirty="0"/>
              <a:t>ISA is a formal specification of allowed instructions, their meaning and behavior</a:t>
            </a:r>
          </a:p>
          <a:p>
            <a:r>
              <a:rPr lang="en-US" dirty="0"/>
              <a:t>ISA defines what the computer does (not how)!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326694-89BE-43C0-8B74-2667F2D7F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F41A55-F41B-4C98-B6BB-BB6419D6B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77142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3A20A-B028-4E75-AED7-0896150A9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ISA = Hardware – Software Contract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8C772D-D23E-47AE-B180-992DAC798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Software assumes instructions behave exactly as specified</a:t>
            </a:r>
          </a:p>
          <a:p>
            <a:r>
              <a:rPr lang="en-US" dirty="0"/>
              <a:t>Hardware guarantees correct execution of instructions</a:t>
            </a:r>
          </a:p>
          <a:p>
            <a:r>
              <a:rPr lang="en-US" dirty="0"/>
              <a:t>As long as ISA remains the same, software need not care about the hardware design!</a:t>
            </a:r>
          </a:p>
          <a:p>
            <a:r>
              <a:rPr lang="en-US" dirty="0"/>
              <a:t>Stable boundary between hardware and software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E48A7F-CC65-4CFF-855B-4E26F2171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1CDBCB-7E94-460D-B2BF-8D506F4DC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13316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A5C8E-BE79-4AF8-B6A7-0C14CCF12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all does an ISA specify?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427EAF-152D-47DD-B275-41B694F0A0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Operations: Add, Load, Store, Branch etc.</a:t>
            </a:r>
          </a:p>
          <a:p>
            <a:r>
              <a:rPr lang="en-US" dirty="0"/>
              <a:t>Storage: How many registers? How big?</a:t>
            </a:r>
          </a:p>
          <a:p>
            <a:r>
              <a:rPr lang="en-US" dirty="0"/>
              <a:t>Storage: How much memory to support?</a:t>
            </a:r>
          </a:p>
          <a:p>
            <a:r>
              <a:rPr lang="en-US" dirty="0"/>
              <a:t>Data types: Integers, Floats, 32-bit, 64-bit etc.</a:t>
            </a:r>
          </a:p>
          <a:p>
            <a:r>
              <a:rPr lang="en-US" dirty="0"/>
              <a:t>Addressing modes: How to refer to different locations in the memory?</a:t>
            </a:r>
          </a:p>
          <a:p>
            <a:r>
              <a:rPr lang="en-US" dirty="0"/>
              <a:t>Measuring success: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3C9C5-CA36-4322-9B53-313FA9A8F0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24170D-40E5-4B79-BE30-33EF73BCE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F9D09C-65F8-4DCB-95B6-F37B114D3F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206" y="5486400"/>
            <a:ext cx="6001588" cy="847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119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F6EE9-9B61-4F36-86FF-4D1948ED9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Great Debate: RISC vs. CISC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0F242-9A93-4F56-ADE6-05AC27E0F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CISC (Complex Instruction Set): Make instructions powerful (e.g., "Multiply memory address X by Y").</a:t>
            </a:r>
          </a:p>
          <a:p>
            <a:pPr lvl="1"/>
            <a:r>
              <a:rPr lang="en-US" sz="2400" dirty="0"/>
              <a:t>Goal: Reduce Instructions/Program.</a:t>
            </a:r>
          </a:p>
          <a:p>
            <a:pPr lvl="1"/>
            <a:endParaRPr lang="en-US" sz="2400" dirty="0"/>
          </a:p>
          <a:p>
            <a:r>
              <a:rPr lang="en-US" sz="2800" dirty="0"/>
              <a:t>RISC (Reduced Instruction Set): Make instructions simple (e.g., "Load," then "Multiply").</a:t>
            </a:r>
          </a:p>
          <a:p>
            <a:pPr lvl="1"/>
            <a:r>
              <a:rPr lang="en-US" sz="2400" dirty="0"/>
              <a:t>Goal: Reduce CPI and Seconds/Cycle.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06D434-9D89-4E64-AD13-AF1DAF21C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0966F8-61B1-4ACE-9C51-8C9F11A8F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470EEB4-28F5-43AF-A24D-4121687B1B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206" y="5486400"/>
            <a:ext cx="6001588" cy="847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860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ABF98-0F2C-4D29-9001-D63E41329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RISC design philosophy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C8D329-2C40-4CCF-B4B5-DF390A596F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8839200" cy="5014912"/>
          </a:xfrm>
        </p:spPr>
        <p:txBody>
          <a:bodyPr>
            <a:normAutofit lnSpcReduction="10000"/>
          </a:bodyPr>
          <a:lstStyle/>
          <a:p>
            <a:r>
              <a:rPr lang="en-US" sz="2800" dirty="0"/>
              <a:t>Simplicity Favors Regularity:</a:t>
            </a:r>
          </a:p>
          <a:p>
            <a:pPr lvl="1"/>
            <a:r>
              <a:rPr lang="en-US" sz="2400" dirty="0"/>
              <a:t>All instructions are the same length (usually 32-bit).</a:t>
            </a:r>
          </a:p>
          <a:p>
            <a:pPr lvl="1"/>
            <a:r>
              <a:rPr lang="en-US" sz="2400" dirty="0"/>
              <a:t>Easier to decode.</a:t>
            </a:r>
          </a:p>
          <a:p>
            <a:r>
              <a:rPr lang="en-US" sz="2800" dirty="0"/>
              <a:t>Smaller is Faster:</a:t>
            </a:r>
          </a:p>
          <a:p>
            <a:pPr lvl="1"/>
            <a:r>
              <a:rPr lang="en-US" sz="2400" dirty="0"/>
              <a:t>Limited number of registers</a:t>
            </a:r>
          </a:p>
          <a:p>
            <a:pPr lvl="1"/>
            <a:r>
              <a:rPr lang="en-US" sz="2400" dirty="0"/>
              <a:t>Smaller instruction sets allow higher clock speeds. </a:t>
            </a:r>
          </a:p>
          <a:p>
            <a:r>
              <a:rPr lang="en-US" sz="2800" dirty="0"/>
              <a:t>Make the Common Case Fast:</a:t>
            </a:r>
          </a:p>
          <a:p>
            <a:pPr lvl="1"/>
            <a:r>
              <a:rPr lang="en-US" sz="2400" dirty="0"/>
              <a:t>Focus on the instructions used 90% of the time (Load, Store, Add).</a:t>
            </a:r>
          </a:p>
          <a:p>
            <a:r>
              <a:rPr lang="en-US" sz="2800" dirty="0"/>
              <a:t>Good Design Demands Good Compromises:</a:t>
            </a:r>
          </a:p>
          <a:p>
            <a:pPr lvl="1"/>
            <a:r>
              <a:rPr lang="en-US" sz="2400" dirty="0"/>
              <a:t>Use a Load-Store architecture (Memory only accessed via Load/Store, never directly in an ALU op).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2B1068-57DB-4E4E-B883-59F6E6BB2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721CC9-E1AE-4D14-A4AF-D22618EEA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1403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FAF05-73FD-4F69-9FEE-05406F12A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Multiplying two memory locations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7A2EF04-37B1-4BED-9FF0-D01D9E29BA1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33396682"/>
              </p:ext>
            </p:extLst>
          </p:nvPr>
        </p:nvGraphicFramePr>
        <p:xfrm>
          <a:off x="917919" y="1429162"/>
          <a:ext cx="7308162" cy="5049014"/>
        </p:xfrm>
        <a:graphic>
          <a:graphicData uri="http://schemas.openxmlformats.org/drawingml/2006/table">
            <a:tbl>
              <a:tblPr>
                <a:tableStyleId>{10A1B5D5-9B99-4C35-A422-299274C87663}</a:tableStyleId>
              </a:tblPr>
              <a:tblGrid>
                <a:gridCol w="2436054">
                  <a:extLst>
                    <a:ext uri="{9D8B030D-6E8A-4147-A177-3AD203B41FA5}">
                      <a16:colId xmlns:a16="http://schemas.microsoft.com/office/drawing/2014/main" val="788328691"/>
                    </a:ext>
                  </a:extLst>
                </a:gridCol>
                <a:gridCol w="2436054">
                  <a:extLst>
                    <a:ext uri="{9D8B030D-6E8A-4147-A177-3AD203B41FA5}">
                      <a16:colId xmlns:a16="http://schemas.microsoft.com/office/drawing/2014/main" val="1524041230"/>
                    </a:ext>
                  </a:extLst>
                </a:gridCol>
                <a:gridCol w="2436054">
                  <a:extLst>
                    <a:ext uri="{9D8B030D-6E8A-4147-A177-3AD203B41FA5}">
                      <a16:colId xmlns:a16="http://schemas.microsoft.com/office/drawing/2014/main" val="1841731485"/>
                    </a:ext>
                  </a:extLst>
                </a:gridCol>
              </a:tblGrid>
              <a:tr h="554412">
                <a:tc>
                  <a:txBody>
                    <a:bodyPr/>
                    <a:lstStyle/>
                    <a:p>
                      <a:pPr rtl="0"/>
                      <a:r>
                        <a:rPr lang="en-US" sz="1500" b="1" dirty="0">
                          <a:solidFill>
                            <a:srgbClr val="1F1F1F"/>
                          </a:solidFill>
                          <a:effectLst/>
                        </a:rPr>
                        <a:t>Feature</a:t>
                      </a:r>
                      <a:endParaRPr lang="en-US" sz="15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500" b="1" dirty="0">
                          <a:solidFill>
                            <a:srgbClr val="1F1F1F"/>
                          </a:solidFill>
                          <a:effectLst/>
                        </a:rPr>
                        <a:t>RISC (e.g., RISC-V / MIPS / ARM)</a:t>
                      </a:r>
                      <a:endParaRPr lang="en-US" sz="15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500" b="1" dirty="0">
                          <a:solidFill>
                            <a:srgbClr val="1F1F1F"/>
                          </a:solidFill>
                          <a:effectLst/>
                        </a:rPr>
                        <a:t>CISC (e.g., Intel x86)</a:t>
                      </a:r>
                      <a:endParaRPr lang="en-US" sz="15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396390"/>
                  </a:ext>
                </a:extLst>
              </a:tr>
              <a:tr h="554412">
                <a:tc>
                  <a:txBody>
                    <a:bodyPr/>
                    <a:lstStyle/>
                    <a:p>
                      <a:pPr rtl="0"/>
                      <a:r>
                        <a:rPr lang="en-US" sz="1500" b="1" dirty="0">
                          <a:solidFill>
                            <a:srgbClr val="1F1F1F"/>
                          </a:solidFill>
                          <a:effectLst/>
                        </a:rPr>
                        <a:t>Philosophy</a:t>
                      </a:r>
                      <a:endParaRPr lang="en-US" sz="15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500">
                          <a:solidFill>
                            <a:srgbClr val="1F1F1F"/>
                          </a:solidFill>
                          <a:effectLst/>
                        </a:rPr>
                        <a:t>"Small, fast, uniform steps."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500">
                          <a:solidFill>
                            <a:srgbClr val="1F1F1F"/>
                          </a:solidFill>
                          <a:effectLst/>
                        </a:rPr>
                        <a:t>"Do more with a single command."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extLst>
                  <a:ext uri="{0D108BD9-81ED-4DB2-BD59-A6C34878D82A}">
                    <a16:rowId xmlns:a16="http://schemas.microsoft.com/office/drawing/2014/main" val="2709245228"/>
                  </a:ext>
                </a:extLst>
              </a:tr>
              <a:tr h="554412">
                <a:tc>
                  <a:txBody>
                    <a:bodyPr/>
                    <a:lstStyle/>
                    <a:p>
                      <a:pPr rtl="0"/>
                      <a:r>
                        <a:rPr lang="en-US" sz="1500" b="1">
                          <a:solidFill>
                            <a:srgbClr val="1F1F1F"/>
                          </a:solidFill>
                          <a:effectLst/>
                        </a:rPr>
                        <a:t>Instruction Count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500" b="1">
                          <a:solidFill>
                            <a:srgbClr val="1F1F1F"/>
                          </a:solidFill>
                          <a:effectLst/>
                        </a:rPr>
                        <a:t>High</a:t>
                      </a:r>
                      <a:r>
                        <a:rPr lang="en-US" sz="1500">
                          <a:solidFill>
                            <a:srgbClr val="1F1F1F"/>
                          </a:solidFill>
                          <a:effectLst/>
                        </a:rPr>
                        <a:t> (requires 4 separate instructions)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500" b="1">
                          <a:solidFill>
                            <a:srgbClr val="1F1F1F"/>
                          </a:solidFill>
                          <a:effectLst/>
                        </a:rPr>
                        <a:t>Low</a:t>
                      </a:r>
                      <a:r>
                        <a:rPr lang="en-US" sz="1500">
                          <a:solidFill>
                            <a:srgbClr val="1F1F1F"/>
                          </a:solidFill>
                          <a:effectLst/>
                        </a:rPr>
                        <a:t> (can be done in 1 instruction)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extLst>
                  <a:ext uri="{0D108BD9-81ED-4DB2-BD59-A6C34878D82A}">
                    <a16:rowId xmlns:a16="http://schemas.microsoft.com/office/drawing/2014/main" val="4222597770"/>
                  </a:ext>
                </a:extLst>
              </a:tr>
              <a:tr h="1688438">
                <a:tc>
                  <a:txBody>
                    <a:bodyPr/>
                    <a:lstStyle/>
                    <a:p>
                      <a:pPr rtl="0"/>
                      <a:r>
                        <a:rPr lang="en-US" sz="1500" b="1">
                          <a:solidFill>
                            <a:srgbClr val="1F1F1F"/>
                          </a:solidFill>
                          <a:effectLst/>
                        </a:rPr>
                        <a:t>Example Code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pt-BR" sz="1500">
                          <a:solidFill>
                            <a:srgbClr val="1F1F1F"/>
                          </a:solidFill>
                          <a:effectLst/>
                        </a:rPr>
                        <a:t>LOAD R1, addr_A </a:t>
                      </a:r>
                    </a:p>
                    <a:p>
                      <a:pPr rtl="0"/>
                      <a:br>
                        <a:rPr lang="pt-BR" sz="1500">
                          <a:solidFill>
                            <a:srgbClr val="1F1F1F"/>
                          </a:solidFill>
                          <a:effectLst/>
                        </a:rPr>
                      </a:br>
                      <a:r>
                        <a:rPr lang="pt-BR" sz="1500">
                          <a:solidFill>
                            <a:srgbClr val="1F1F1F"/>
                          </a:solidFill>
                          <a:effectLst/>
                        </a:rPr>
                        <a:t>LOAD R2, addr_B </a:t>
                      </a:r>
                    </a:p>
                    <a:p>
                      <a:pPr rtl="0"/>
                      <a:br>
                        <a:rPr lang="pt-BR" sz="1500">
                          <a:solidFill>
                            <a:srgbClr val="1F1F1F"/>
                          </a:solidFill>
                          <a:effectLst/>
                        </a:rPr>
                      </a:br>
                      <a:r>
                        <a:rPr lang="pt-BR" sz="1500">
                          <a:solidFill>
                            <a:srgbClr val="1F1F1F"/>
                          </a:solidFill>
                          <a:effectLst/>
                        </a:rPr>
                        <a:t>PROD R1, R2 </a:t>
                      </a:r>
                    </a:p>
                    <a:p>
                      <a:pPr rtl="0"/>
                      <a:br>
                        <a:rPr lang="pt-BR" sz="1500">
                          <a:solidFill>
                            <a:srgbClr val="1F1F1F"/>
                          </a:solidFill>
                          <a:effectLst/>
                        </a:rPr>
                      </a:br>
                      <a:r>
                        <a:rPr lang="pt-BR" sz="1500">
                          <a:solidFill>
                            <a:srgbClr val="1F1F1F"/>
                          </a:solidFill>
                          <a:effectLst/>
                        </a:rPr>
                        <a:t>STORE addr_A, R1</a:t>
                      </a:r>
                      <a:endParaRPr lang="pt-BR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500" dirty="0">
                          <a:solidFill>
                            <a:srgbClr val="1F1F1F"/>
                          </a:solidFill>
                          <a:effectLst/>
                        </a:rPr>
                        <a:t>MULT </a:t>
                      </a:r>
                      <a:r>
                        <a:rPr lang="en-US" sz="1500" dirty="0" err="1">
                          <a:solidFill>
                            <a:srgbClr val="1F1F1F"/>
                          </a:solidFill>
                          <a:effectLst/>
                        </a:rPr>
                        <a:t>addr_A</a:t>
                      </a:r>
                      <a:r>
                        <a:rPr lang="en-US" sz="1500" dirty="0">
                          <a:solidFill>
                            <a:srgbClr val="1F1F1F"/>
                          </a:solidFill>
                          <a:effectLst/>
                        </a:rPr>
                        <a:t>, </a:t>
                      </a:r>
                      <a:r>
                        <a:rPr lang="en-US" sz="1500" dirty="0" err="1">
                          <a:solidFill>
                            <a:srgbClr val="1F1F1F"/>
                          </a:solidFill>
                          <a:effectLst/>
                        </a:rPr>
                        <a:t>addr_B</a:t>
                      </a:r>
                      <a:endParaRPr lang="en-US" sz="15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extLst>
                  <a:ext uri="{0D108BD9-81ED-4DB2-BD59-A6C34878D82A}">
                    <a16:rowId xmlns:a16="http://schemas.microsoft.com/office/drawing/2014/main" val="1131686274"/>
                  </a:ext>
                </a:extLst>
              </a:tr>
              <a:tr h="554412">
                <a:tc>
                  <a:txBody>
                    <a:bodyPr/>
                    <a:lstStyle/>
                    <a:p>
                      <a:pPr rtl="0"/>
                      <a:r>
                        <a:rPr lang="en-US" sz="1500" b="1">
                          <a:solidFill>
                            <a:srgbClr val="1F1F1F"/>
                          </a:solidFill>
                          <a:effectLst/>
                        </a:rPr>
                        <a:t>Memory Access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500">
                          <a:solidFill>
                            <a:srgbClr val="1F1F1F"/>
                          </a:solidFill>
                          <a:effectLst/>
                        </a:rPr>
                        <a:t>Only LOAD and STORE touch memory.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500">
                          <a:solidFill>
                            <a:srgbClr val="1F1F1F"/>
                          </a:solidFill>
                          <a:effectLst/>
                        </a:rPr>
                        <a:t>Computation instructions can touch memory directly.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extLst>
                  <a:ext uri="{0D108BD9-81ED-4DB2-BD59-A6C34878D82A}">
                    <a16:rowId xmlns:a16="http://schemas.microsoft.com/office/drawing/2014/main" val="3348477581"/>
                  </a:ext>
                </a:extLst>
              </a:tr>
              <a:tr h="554412">
                <a:tc>
                  <a:txBody>
                    <a:bodyPr/>
                    <a:lstStyle/>
                    <a:p>
                      <a:pPr rtl="0"/>
                      <a:r>
                        <a:rPr lang="en-US" sz="1500" b="1">
                          <a:solidFill>
                            <a:srgbClr val="1F1F1F"/>
                          </a:solidFill>
                          <a:effectLst/>
                        </a:rPr>
                        <a:t>Execution Time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500">
                          <a:solidFill>
                            <a:srgbClr val="1F1F1F"/>
                          </a:solidFill>
                          <a:effectLst/>
                        </a:rPr>
                        <a:t>Each instruction typically takes </a:t>
                      </a:r>
                      <a:r>
                        <a:rPr lang="en-US" sz="1500" b="1">
                          <a:solidFill>
                            <a:srgbClr val="1F1F1F"/>
                          </a:solidFill>
                          <a:effectLst/>
                        </a:rPr>
                        <a:t>1 cycle</a:t>
                      </a:r>
                      <a:r>
                        <a:rPr lang="en-US" sz="1500">
                          <a:solidFill>
                            <a:srgbClr val="1F1F1F"/>
                          </a:solidFill>
                          <a:effectLst/>
                        </a:rPr>
                        <a:t>.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500" dirty="0">
                          <a:solidFill>
                            <a:srgbClr val="1F1F1F"/>
                          </a:solidFill>
                          <a:effectLst/>
                        </a:rPr>
                        <a:t>Instruction takes </a:t>
                      </a:r>
                      <a:r>
                        <a:rPr lang="en-US" sz="1500" b="1" dirty="0">
                          <a:solidFill>
                            <a:srgbClr val="1F1F1F"/>
                          </a:solidFill>
                          <a:effectLst/>
                        </a:rPr>
                        <a:t>multiple cycles</a:t>
                      </a:r>
                      <a:r>
                        <a:rPr lang="en-US" sz="1500" dirty="0">
                          <a:solidFill>
                            <a:srgbClr val="1F1F1F"/>
                          </a:solidFill>
                          <a:effectLst/>
                        </a:rPr>
                        <a:t> to finish.</a:t>
                      </a:r>
                      <a:endParaRPr lang="en-US" sz="15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extLst>
                  <a:ext uri="{0D108BD9-81ED-4DB2-BD59-A6C34878D82A}">
                    <a16:rowId xmlns:a16="http://schemas.microsoft.com/office/drawing/2014/main" val="3427217617"/>
                  </a:ext>
                </a:extLst>
              </a:tr>
              <a:tr h="554412">
                <a:tc>
                  <a:txBody>
                    <a:bodyPr/>
                    <a:lstStyle/>
                    <a:p>
                      <a:pPr rtl="0"/>
                      <a:r>
                        <a:rPr lang="en-US" sz="1500" b="1">
                          <a:solidFill>
                            <a:srgbClr val="1F1F1F"/>
                          </a:solidFill>
                          <a:effectLst/>
                        </a:rPr>
                        <a:t>Addressing Modes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500">
                          <a:solidFill>
                            <a:srgbClr val="1F1F1F"/>
                          </a:solidFill>
                          <a:effectLst/>
                        </a:rPr>
                        <a:t>Very few (usually just "Base + Offset").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500" dirty="0">
                          <a:solidFill>
                            <a:srgbClr val="1F1F1F"/>
                          </a:solidFill>
                          <a:effectLst/>
                        </a:rPr>
                        <a:t>Dozens of complex modes (e.g., [</a:t>
                      </a:r>
                      <a:r>
                        <a:rPr lang="en-US" sz="1500" dirty="0" err="1">
                          <a:solidFill>
                            <a:srgbClr val="1F1F1F"/>
                          </a:solidFill>
                          <a:effectLst/>
                        </a:rPr>
                        <a:t>ebx</a:t>
                      </a:r>
                      <a:r>
                        <a:rPr lang="en-US" sz="1500" dirty="0">
                          <a:solidFill>
                            <a:srgbClr val="1F1F1F"/>
                          </a:solidFill>
                          <a:effectLst/>
                        </a:rPr>
                        <a:t> + </a:t>
                      </a:r>
                      <a:r>
                        <a:rPr lang="en-US" sz="1500" dirty="0" err="1">
                          <a:solidFill>
                            <a:srgbClr val="1F1F1F"/>
                          </a:solidFill>
                          <a:effectLst/>
                        </a:rPr>
                        <a:t>esi</a:t>
                      </a:r>
                      <a:r>
                        <a:rPr lang="en-US" sz="1500" dirty="0">
                          <a:solidFill>
                            <a:srgbClr val="1F1F1F"/>
                          </a:solidFill>
                          <a:effectLst/>
                        </a:rPr>
                        <a:t>*4 + 10]).</a:t>
                      </a:r>
                      <a:endParaRPr lang="en-US" sz="15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extLst>
                  <a:ext uri="{0D108BD9-81ED-4DB2-BD59-A6C34878D82A}">
                    <a16:rowId xmlns:a16="http://schemas.microsoft.com/office/drawing/2014/main" val="2850229846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CA2D8F-6E4B-42C2-AAB3-CCD08F35B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99FC0D-3EF5-4210-BD2A-BCB3175BF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550650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7FD93-0A16-40A1-9D41-421D6DD46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 of ISA choice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EB88E-6294-492D-88CC-E991806C2A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Code Density: CISC wins (smaller binaries).</a:t>
            </a:r>
          </a:p>
          <a:p>
            <a:r>
              <a:rPr lang="en-US" dirty="0"/>
              <a:t>Power Efficiency: RISC wins (simpler logic, fewer transistors).</a:t>
            </a:r>
          </a:p>
          <a:p>
            <a:r>
              <a:rPr lang="en-US" dirty="0"/>
              <a:t>Compiler Complexity: RISC requires smarter compilers to optimize instruction sequences.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0384CC-F3E5-4B75-B545-3492B0AB7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9A608C-E0DA-4076-8ABB-E9FB42DD1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4698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A8750-9E3A-42FA-B98B-7296523F4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RISC-V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06D06-389B-4CA2-80E6-1EA21A2DB4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RISC is the dominant philosophy today (ARM in phones, RISC-V in research/IoT).</a:t>
            </a:r>
          </a:p>
          <a:p>
            <a:r>
              <a:rPr lang="en-US" dirty="0"/>
              <a:t>RISC-V:</a:t>
            </a:r>
          </a:p>
          <a:p>
            <a:pPr lvl="1"/>
            <a:r>
              <a:rPr lang="en-US" dirty="0"/>
              <a:t>Open and clean specification</a:t>
            </a:r>
          </a:p>
          <a:p>
            <a:pPr lvl="1"/>
            <a:r>
              <a:rPr lang="en-US" dirty="0"/>
              <a:t>Minimal complexity</a:t>
            </a:r>
          </a:p>
          <a:p>
            <a:pPr lvl="1"/>
            <a:r>
              <a:rPr lang="en-US" dirty="0"/>
              <a:t>Ideal for learning</a:t>
            </a:r>
          </a:p>
          <a:p>
            <a:pPr lvl="1"/>
            <a:r>
              <a:rPr lang="en-US" dirty="0"/>
              <a:t>Widely adopted in industry</a:t>
            </a:r>
          </a:p>
          <a:p>
            <a:pPr lvl="1"/>
            <a:endParaRPr lang="en-US" dirty="0"/>
          </a:p>
          <a:p>
            <a:r>
              <a:rPr lang="en-US" dirty="0"/>
              <a:t>RISC-V details: next class!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8204A-A65E-473F-A921-9D6B46D4C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ABCF5A-C926-4F47-8525-27A1AF65F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497053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AE61C-9BB7-4562-B588-988AFEEB5D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3810000" cy="501491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“</a:t>
            </a:r>
            <a:r>
              <a:rPr lang="en-US" b="0" i="0" dirty="0">
                <a:effectLst/>
                <a:latin typeface="-apple-system"/>
              </a:rPr>
              <a:t>I can pretty much look at the C code, predict the assembly instructions (and by extension the machine code) it will generate and what the CPU will do as a result.”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592630-FC59-44D9-903A-94B71A1118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B6FABD-1A6F-43DD-AE8D-B1F9CF400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16</a:t>
            </a:fld>
            <a:endParaRPr lang="en-US" altLang="en-US"/>
          </a:p>
        </p:txBody>
      </p:sp>
      <p:pic>
        <p:nvPicPr>
          <p:cNvPr id="1026" name="Picture 2" descr="diagram">
            <a:extLst>
              <a:ext uri="{FF2B5EF4-FFF2-40B4-BE49-F238E27FC236}">
                <a16:creationId xmlns:a16="http://schemas.microsoft.com/office/drawing/2014/main" id="{7802893D-DDEA-4A3B-B5CA-170F7F327E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9562" y="1464499"/>
            <a:ext cx="4872038" cy="4877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9D53DF99-75B9-442F-837C-DA5284770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0710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38EC0-71A6-4B65-9150-D0453F98B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Programmer’s model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8020E2-2025-43F1-BC59-22AF34E8C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5EAED-CE1B-4A86-AEBA-9E957910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5DC56B-639D-4D0C-BA3F-98D6C5EA740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2743200"/>
            <a:ext cx="7772400" cy="3352800"/>
          </a:xfrm>
        </p:spPr>
        <p:txBody>
          <a:bodyPr/>
          <a:lstStyle/>
          <a:p>
            <a:r>
              <a:rPr lang="en-US" dirty="0"/>
              <a:t>Seen: What is an ISA? Why do we need one?</a:t>
            </a:r>
          </a:p>
          <a:p>
            <a:r>
              <a:rPr lang="en-US" dirty="0"/>
              <a:t>It abstracts away the hardware so the programmer does not have to bother</a:t>
            </a:r>
          </a:p>
          <a:p>
            <a:endParaRPr lang="en-US" dirty="0"/>
          </a:p>
          <a:p>
            <a:r>
              <a:rPr lang="en-US" dirty="0"/>
              <a:t>Next: So what does the programmer see?</a:t>
            </a:r>
          </a:p>
        </p:txBody>
      </p:sp>
    </p:spTree>
    <p:extLst>
      <p:ext uri="{BB962C8B-B14F-4D97-AF65-F5344CB8AC3E}">
        <p14:creationId xmlns:p14="http://schemas.microsoft.com/office/powerpoint/2010/main" val="1753054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B4311-F5FA-4441-BAF6-A269CDCA7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CPU – perform operations on registers using the ALU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D2687A-5BBF-442D-B5FA-445EC3F8F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E15865-EFA4-4B5F-89B0-AA907B51E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18</a:t>
            </a:fld>
            <a:endParaRPr lang="en-US" altLang="en-US"/>
          </a:p>
        </p:txBody>
      </p:sp>
      <p:pic>
        <p:nvPicPr>
          <p:cNvPr id="3074" name="Picture 2" descr="What Are CPU Registers ? | Types Of Registers , Functions | COA">
            <a:extLst>
              <a:ext uri="{FF2B5EF4-FFF2-40B4-BE49-F238E27FC236}">
                <a16:creationId xmlns:a16="http://schemas.microsoft.com/office/drawing/2014/main" id="{98454991-1165-4D63-8F03-B6CA7B70D97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50"/>
          <a:stretch/>
        </p:blipFill>
        <p:spPr bwMode="auto">
          <a:xfrm>
            <a:off x="342900" y="1383815"/>
            <a:ext cx="8458200" cy="5080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07943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744B2-7C71-45D8-8DEE-7C60F4016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– a simple model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C2D256-6D3F-4B93-AF3B-0A3091AC66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4EF5BB-B116-48E5-B513-1F5971C46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19</a:t>
            </a:fld>
            <a:endParaRPr lang="en-US" alt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6535FB5-AABE-42A5-95E5-83BC3A75F8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69"/>
          <a:stretch/>
        </p:blipFill>
        <p:spPr>
          <a:xfrm>
            <a:off x="1097491" y="1524000"/>
            <a:ext cx="6949018" cy="4937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448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0269-84B6-4F5F-852E-7F99087B8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Programmer’s model of a processor – what the programmer sees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F3BF02-3F3B-483B-9C7A-8D0E9BB369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What the programmer needs to care about:</a:t>
            </a:r>
          </a:p>
          <a:p>
            <a:pPr lvl="1"/>
            <a:r>
              <a:rPr lang="en-US" dirty="0"/>
              <a:t>What registers are available (fast local operations)</a:t>
            </a:r>
          </a:p>
          <a:p>
            <a:pPr lvl="1"/>
            <a:r>
              <a:rPr lang="en-US" dirty="0"/>
              <a:t>What memory is available (slower operation but larger pool)</a:t>
            </a:r>
          </a:p>
          <a:p>
            <a:pPr lvl="1"/>
            <a:r>
              <a:rPr lang="en-US" dirty="0"/>
              <a:t>What instructions are available and how they are encoded</a:t>
            </a:r>
          </a:p>
          <a:p>
            <a:pPr lvl="1"/>
            <a:r>
              <a:rPr lang="en-US" dirty="0"/>
              <a:t>Some relevant state changes (change in register value, memory location value, control flow)</a:t>
            </a:r>
          </a:p>
          <a:p>
            <a:pPr lvl="2"/>
            <a:r>
              <a:rPr lang="en-US" dirty="0"/>
              <a:t>Any state that might actually be relevant to the software (for example, any state elements required for internal implementation of FSM not included)</a:t>
            </a:r>
          </a:p>
          <a:p>
            <a:r>
              <a:rPr lang="en-US" dirty="0"/>
              <a:t>What they do not care about:</a:t>
            </a:r>
          </a:p>
          <a:p>
            <a:pPr lvl="1"/>
            <a:r>
              <a:rPr lang="en-US" dirty="0"/>
              <a:t>Pipeline, cache etc.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B5D252-7CEF-4B49-BFF3-7B84434B3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DCD80A-9273-4ADE-8E43-55F8BEFCD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71271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91E98-59C0-4796-95FF-38445D24B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Registers as programmer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1E2C25-E1B6-4171-80D0-F7E0130C17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General purpose registers: store operands, temporary values or memory addresses</a:t>
            </a:r>
          </a:p>
          <a:p>
            <a:r>
              <a:rPr lang="en-US" dirty="0"/>
              <a:t>Special registers: for example</a:t>
            </a:r>
          </a:p>
          <a:p>
            <a:pPr lvl="1"/>
            <a:r>
              <a:rPr lang="en-US" dirty="0"/>
              <a:t>The program counter (PC) stores the address in memory of the next instruction to execute</a:t>
            </a:r>
          </a:p>
          <a:p>
            <a:pPr lvl="1"/>
            <a:r>
              <a:rPr lang="en-US" dirty="0"/>
              <a:t>The instruction register (IR) stores the instruction being executed</a:t>
            </a:r>
          </a:p>
          <a:p>
            <a:r>
              <a:rPr lang="en-US" dirty="0"/>
              <a:t>ISA defines what registers are available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6DBCD-C1BA-40F4-AE50-79EB8B6EC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95A33D-425C-4E61-BE9B-10F83619E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2587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7A854-9148-44DE-9EC1-CE4EB1385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Programmer’s models for ARM, x86-64 and RISC-V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C344EC71-8186-4D96-8C6F-B18BAB833E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05429681"/>
              </p:ext>
            </p:extLst>
          </p:nvPr>
        </p:nvGraphicFramePr>
        <p:xfrm>
          <a:off x="319590" y="1446214"/>
          <a:ext cx="8504820" cy="5014910"/>
        </p:xfrm>
        <a:graphic>
          <a:graphicData uri="http://schemas.openxmlformats.org/drawingml/2006/table">
            <a:tbl>
              <a:tblPr/>
              <a:tblGrid>
                <a:gridCol w="2126205">
                  <a:extLst>
                    <a:ext uri="{9D8B030D-6E8A-4147-A177-3AD203B41FA5}">
                      <a16:colId xmlns:a16="http://schemas.microsoft.com/office/drawing/2014/main" val="1248191601"/>
                    </a:ext>
                  </a:extLst>
                </a:gridCol>
                <a:gridCol w="2126205">
                  <a:extLst>
                    <a:ext uri="{9D8B030D-6E8A-4147-A177-3AD203B41FA5}">
                      <a16:colId xmlns:a16="http://schemas.microsoft.com/office/drawing/2014/main" val="748265338"/>
                    </a:ext>
                  </a:extLst>
                </a:gridCol>
                <a:gridCol w="2126205">
                  <a:extLst>
                    <a:ext uri="{9D8B030D-6E8A-4147-A177-3AD203B41FA5}">
                      <a16:colId xmlns:a16="http://schemas.microsoft.com/office/drawing/2014/main" val="1876750675"/>
                    </a:ext>
                  </a:extLst>
                </a:gridCol>
                <a:gridCol w="2126205">
                  <a:extLst>
                    <a:ext uri="{9D8B030D-6E8A-4147-A177-3AD203B41FA5}">
                      <a16:colId xmlns:a16="http://schemas.microsoft.com/office/drawing/2014/main" val="4232624364"/>
                    </a:ext>
                  </a:extLst>
                </a:gridCol>
              </a:tblGrid>
              <a:tr h="615866">
                <a:tc>
                  <a:txBody>
                    <a:bodyPr/>
                    <a:lstStyle/>
                    <a:p>
                      <a:r>
                        <a:rPr lang="en-US" sz="1700" dirty="0"/>
                        <a:t>Aspect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RISC-V (RV32I)</a:t>
                      </a:r>
                      <a:endParaRPr lang="en-US" sz="1700" dirty="0"/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ARM (AArch32 / AArch64)</a:t>
                      </a:r>
                      <a:endParaRPr lang="en-US" sz="1700" dirty="0"/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x86-64 (Intel/AMD)</a:t>
                      </a:r>
                      <a:endParaRPr lang="en-US" sz="1700" dirty="0"/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9343788"/>
                  </a:ext>
                </a:extLst>
              </a:tr>
              <a:tr h="615866">
                <a:tc>
                  <a:txBody>
                    <a:bodyPr/>
                    <a:lstStyle/>
                    <a:p>
                      <a:r>
                        <a:rPr lang="en-US" sz="1700" dirty="0"/>
                        <a:t>Register count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32 integer registers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nl-NL" sz="1700" dirty="0"/>
                        <a:t>16 (AArch32), 31 GPRs (AArch64)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16 GPRs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7626254"/>
                  </a:ext>
                </a:extLst>
              </a:tr>
              <a:tr h="615866">
                <a:tc>
                  <a:txBody>
                    <a:bodyPr/>
                    <a:lstStyle/>
                    <a:p>
                      <a:r>
                        <a:rPr lang="en-US" sz="1700" dirty="0"/>
                        <a:t>Register roles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All GPRs (except x0)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Mostly GPRs, some conventional roles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Many implicit roles (e.g., stack, flags)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9658735"/>
                  </a:ext>
                </a:extLst>
              </a:tr>
              <a:tr h="351924">
                <a:tc>
                  <a:txBody>
                    <a:bodyPr/>
                    <a:lstStyle/>
                    <a:p>
                      <a:r>
                        <a:rPr lang="en-US" sz="1700" dirty="0"/>
                        <a:t>Register width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32 bits (RV32I)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32 or 64 bits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64 bits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831025"/>
                  </a:ext>
                </a:extLst>
              </a:tr>
              <a:tr h="351924">
                <a:tc>
                  <a:txBody>
                    <a:bodyPr/>
                    <a:lstStyle/>
                    <a:p>
                      <a:r>
                        <a:rPr lang="en-US" sz="1700" dirty="0"/>
                        <a:t>Instruction length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Fixed (32 bits)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Fixed (mostly 32 bits)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Variable (1–15 bytes)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4277946"/>
                  </a:ext>
                </a:extLst>
              </a:tr>
              <a:tr h="615866">
                <a:tc>
                  <a:txBody>
                    <a:bodyPr/>
                    <a:lstStyle/>
                    <a:p>
                      <a:r>
                        <a:rPr lang="en-US" sz="1700" dirty="0"/>
                        <a:t>Memory model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Load–store only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Load–store only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Memory-to-register allowed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2334188"/>
                  </a:ext>
                </a:extLst>
              </a:tr>
              <a:tr h="615866">
                <a:tc>
                  <a:txBody>
                    <a:bodyPr/>
                    <a:lstStyle/>
                    <a:p>
                      <a:r>
                        <a:rPr lang="en-US" sz="1700" dirty="0"/>
                        <a:t>Program counter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Explicit architectural state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Explicit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Mostly implicit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8553458"/>
                  </a:ext>
                </a:extLst>
              </a:tr>
              <a:tr h="615866">
                <a:tc>
                  <a:txBody>
                    <a:bodyPr/>
                    <a:lstStyle/>
                    <a:p>
                      <a:r>
                        <a:rPr lang="en-US" sz="1700" dirty="0"/>
                        <a:t>Condition flags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Not implicit (explicit comparisons)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Explicit condition flags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Implicit FLAGS register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7490875"/>
                  </a:ext>
                </a:extLst>
              </a:tr>
              <a:tr h="615866">
                <a:tc>
                  <a:txBody>
                    <a:bodyPr/>
                    <a:lstStyle/>
                    <a:p>
                      <a:r>
                        <a:rPr lang="en-US" sz="1700" dirty="0"/>
                        <a:t>ISA philosophy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Minimal, regular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RISC with extensions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CISC (historical), RISC-like internally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2353728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42E55C-9CA4-493E-B69A-E0AC340DB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A94332-E2C2-42BE-8829-D4E110D8C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069991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7D570-BA4D-437A-A19B-9DCBCF137C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– talking to the low-level hardware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B9CED1-38EB-4B6C-9C7B-F79E71BC2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ISA defines what the programmer sees – registers, memory etc.</a:t>
            </a:r>
          </a:p>
          <a:p>
            <a:r>
              <a:rPr lang="en-US" dirty="0"/>
              <a:t>Did your python (or Java or C) code ever talk about registers?</a:t>
            </a:r>
          </a:p>
          <a:p>
            <a:r>
              <a:rPr lang="en-US" dirty="0"/>
              <a:t>High-level languages further abstract the hardware</a:t>
            </a:r>
          </a:p>
          <a:p>
            <a:r>
              <a:rPr lang="en-US" dirty="0"/>
              <a:t>Assembly – language to directly deal with hardware</a:t>
            </a:r>
          </a:p>
          <a:p>
            <a:r>
              <a:rPr lang="en-US" dirty="0"/>
              <a:t>Assembly == symbolic view of the ISA (human-readable view of ISA)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68782B-E9D0-4CBA-AD96-7B49FD84C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5F5D0F-0673-4235-B533-8E0C50E4F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2883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38EC0-71A6-4B65-9150-D0453F98B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RISC-V ISA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8020E2-2025-43F1-BC59-22AF34E8C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5EAED-CE1B-4A86-AEBA-9E957910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24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5DC56B-639D-4D0C-BA3F-98D6C5EA740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2743200"/>
            <a:ext cx="7772400" cy="3352800"/>
          </a:xfrm>
        </p:spPr>
        <p:txBody>
          <a:bodyPr/>
          <a:lstStyle/>
          <a:p>
            <a:r>
              <a:rPr lang="en-US" dirty="0"/>
              <a:t>Open, modular, clean and minimal ISA</a:t>
            </a:r>
          </a:p>
          <a:p>
            <a:endParaRPr lang="en-US" dirty="0"/>
          </a:p>
          <a:p>
            <a:r>
              <a:rPr lang="en-US" dirty="0"/>
              <a:t>Designed for simplicity and scalability</a:t>
            </a:r>
          </a:p>
        </p:txBody>
      </p:sp>
    </p:spTree>
    <p:extLst>
      <p:ext uri="{BB962C8B-B14F-4D97-AF65-F5344CB8AC3E}">
        <p14:creationId xmlns:p14="http://schemas.microsoft.com/office/powerpoint/2010/main" val="1745857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F0C06-6955-40CE-9FCC-89265760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RV32I – a 32-bit integer ISA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E1E0F-78CE-4D01-8173-2D0201C0FA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800" dirty="0"/>
              <a:t>32 bit architecture, i.e. registers, address and data bus are 32-bit wide</a:t>
            </a:r>
          </a:p>
          <a:p>
            <a:r>
              <a:rPr lang="en-US" sz="2800" dirty="0"/>
              <a:t>32 general-purpose registers</a:t>
            </a:r>
          </a:p>
          <a:p>
            <a:pPr lvl="1"/>
            <a:r>
              <a:rPr lang="en-US" sz="2400" dirty="0"/>
              <a:t>x0…x31 (x0 is hardwired to 0 …why?)</a:t>
            </a:r>
          </a:p>
          <a:p>
            <a:pPr lvl="1"/>
            <a:r>
              <a:rPr lang="en-US" sz="2400" dirty="0"/>
              <a:t>Also named ‘zero’, ‘ra’, ‘</a:t>
            </a:r>
            <a:r>
              <a:rPr lang="en-US" sz="2400" dirty="0" err="1"/>
              <a:t>sp</a:t>
            </a:r>
            <a:r>
              <a:rPr lang="en-US" sz="2400" dirty="0"/>
              <a:t>’, ‘t0 – t6’, ‘a0 – a6’ (by convention)</a:t>
            </a:r>
          </a:p>
          <a:p>
            <a:r>
              <a:rPr lang="en-US" sz="2800" dirty="0"/>
              <a:t>Only integer operations included in the ISA</a:t>
            </a:r>
          </a:p>
          <a:p>
            <a:r>
              <a:rPr lang="en-US" sz="2800" dirty="0"/>
              <a:t>Each instruction has fixed length – 32 bits!</a:t>
            </a:r>
          </a:p>
          <a:p>
            <a:r>
              <a:rPr lang="en-US" sz="2800" dirty="0"/>
              <a:t>Byte-addressable memory (i.e. each location is a single byte, not 32-bit / 4-byte word)</a:t>
            </a:r>
          </a:p>
          <a:p>
            <a:r>
              <a:rPr lang="en-US" sz="2800" dirty="0"/>
              <a:t>Load – store design</a:t>
            </a:r>
          </a:p>
          <a:p>
            <a:endParaRPr lang="en-US" sz="2800" dirty="0"/>
          </a:p>
          <a:p>
            <a:r>
              <a:rPr lang="en-US" sz="2800" dirty="0"/>
              <a:t>Several extensions exist, such as for floating point operations etc.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85E7E9-3581-4EBB-9014-9E7251330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98337E-C807-46D0-8F65-801129B14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43625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E9936-DBDF-455D-8685-780A82B04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RV32I instructions (overview)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5A7C91-57C6-49D8-88A2-D83D889D72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Integer arithmetic and logical instructions: perform operations on registers</a:t>
            </a:r>
          </a:p>
          <a:p>
            <a:pPr lvl="1"/>
            <a:r>
              <a:rPr lang="en-US" sz="2400" dirty="0"/>
              <a:t>add, sub, and, or, </a:t>
            </a:r>
            <a:r>
              <a:rPr lang="en-US" sz="2400" dirty="0" err="1"/>
              <a:t>addi</a:t>
            </a:r>
            <a:endParaRPr lang="en-US" sz="2400" dirty="0"/>
          </a:p>
          <a:p>
            <a:r>
              <a:rPr lang="en-US" sz="2800" dirty="0"/>
              <a:t>Load and store instructions: move data between registers and memory</a:t>
            </a:r>
          </a:p>
          <a:p>
            <a:pPr lvl="1"/>
            <a:r>
              <a:rPr lang="en-US" sz="2400" dirty="0"/>
              <a:t>No other instruction touches memory directly</a:t>
            </a:r>
          </a:p>
          <a:p>
            <a:pPr lvl="1"/>
            <a:r>
              <a:rPr lang="en-US" sz="2400" dirty="0" err="1"/>
              <a:t>lw</a:t>
            </a:r>
            <a:r>
              <a:rPr lang="en-US" sz="2400" dirty="0"/>
              <a:t>, </a:t>
            </a:r>
            <a:r>
              <a:rPr lang="en-US" sz="2400" dirty="0" err="1"/>
              <a:t>sw</a:t>
            </a:r>
            <a:endParaRPr lang="en-US" sz="2400" dirty="0"/>
          </a:p>
          <a:p>
            <a:r>
              <a:rPr lang="en-US" sz="2800" dirty="0"/>
              <a:t>Control flow instructions: branching, jumping</a:t>
            </a:r>
          </a:p>
          <a:p>
            <a:pPr lvl="1"/>
            <a:r>
              <a:rPr lang="en-US" sz="2400" dirty="0" err="1"/>
              <a:t>beq</a:t>
            </a:r>
            <a:r>
              <a:rPr lang="en-US" sz="2400" dirty="0"/>
              <a:t>, </a:t>
            </a:r>
            <a:r>
              <a:rPr lang="en-US" sz="2400" dirty="0" err="1"/>
              <a:t>bne</a:t>
            </a:r>
            <a:r>
              <a:rPr lang="en-US" sz="2400" dirty="0"/>
              <a:t>, </a:t>
            </a:r>
            <a:r>
              <a:rPr lang="en-US" sz="2400" dirty="0" err="1"/>
              <a:t>jal</a:t>
            </a:r>
            <a:r>
              <a:rPr lang="en-US" sz="2400" dirty="0"/>
              <a:t>, </a:t>
            </a:r>
            <a:r>
              <a:rPr lang="en-US" sz="2400" dirty="0" err="1"/>
              <a:t>jalr</a:t>
            </a:r>
            <a:endParaRPr lang="en-US" sz="2400" dirty="0"/>
          </a:p>
          <a:p>
            <a:r>
              <a:rPr lang="en-US" sz="2800" dirty="0"/>
              <a:t>System-level instructions: will see later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7ED342-826D-48C4-9973-14F52744FF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97972B-D47A-40D8-AEA0-4A49CE1BD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04170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F9313-FFE6-45C1-B268-8078954A0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RISC-V arithmetic instructions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467FA4-1C4C-4CDC-BCD0-4E544625AC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0"/>
            <a:ext cx="8839200" cy="515302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All of these have 3 operands</a:t>
            </a:r>
          </a:p>
          <a:p>
            <a:r>
              <a:rPr lang="en-US" dirty="0"/>
              <a:t>Operand order is fixed</a:t>
            </a:r>
          </a:p>
          <a:p>
            <a:endParaRPr lang="en-US" dirty="0"/>
          </a:p>
          <a:p>
            <a:r>
              <a:rPr lang="en-US" dirty="0"/>
              <a:t>Example:</a:t>
            </a:r>
          </a:p>
          <a:p>
            <a:pPr marL="457200" lvl="1" indent="0">
              <a:buNone/>
            </a:pPr>
            <a:r>
              <a:rPr lang="en-US" dirty="0"/>
              <a:t>C code:      </a:t>
            </a:r>
            <a:r>
              <a:rPr lang="en-US" dirty="0">
                <a:latin typeface="Ubuntu Mono" panose="020B0309030602030204" pitchFamily="49" charset="0"/>
              </a:rPr>
              <a:t>A = B + C</a:t>
            </a:r>
          </a:p>
          <a:p>
            <a:pPr marL="457200" lvl="1" indent="0">
              <a:buNone/>
            </a:pPr>
            <a:r>
              <a:rPr lang="en-US" dirty="0"/>
              <a:t>Assembly: </a:t>
            </a:r>
            <a:r>
              <a:rPr lang="en-US" dirty="0">
                <a:latin typeface="Ubuntu Mono" panose="020B0309030602030204" pitchFamily="49" charset="0"/>
              </a:rPr>
              <a:t>add x5, x1, x2  # x5 = x1 + x2</a:t>
            </a:r>
          </a:p>
          <a:p>
            <a:pPr marL="457200" lvl="1" indent="0">
              <a:buNone/>
            </a:pPr>
            <a:r>
              <a:rPr lang="en-US" dirty="0"/>
              <a:t>(Compiler maps C variables to registers)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Example 2:</a:t>
            </a:r>
          </a:p>
          <a:p>
            <a:pPr marL="457200" lvl="1" indent="0">
              <a:buNone/>
            </a:pPr>
            <a:r>
              <a:rPr lang="en-US" dirty="0"/>
              <a:t>C code:       </a:t>
            </a:r>
            <a:r>
              <a:rPr lang="en-US" dirty="0">
                <a:latin typeface="Ubuntu Mono" panose="020B0309030602030204" pitchFamily="49" charset="0"/>
              </a:rPr>
              <a:t>A = B + C + D</a:t>
            </a:r>
          </a:p>
          <a:p>
            <a:pPr marL="457200" lvl="1" indent="0">
              <a:buNone/>
            </a:pPr>
            <a:r>
              <a:rPr lang="en-US" dirty="0"/>
              <a:t>Assembly:  </a:t>
            </a:r>
            <a:r>
              <a:rPr lang="en-US" dirty="0">
                <a:latin typeface="Ubuntu Mono" panose="020B0309030602030204" pitchFamily="49" charset="0"/>
              </a:rPr>
              <a:t>add x5, x1, x2</a:t>
            </a:r>
          </a:p>
          <a:p>
            <a:pPr marL="457200" lvl="1" indent="0">
              <a:buNone/>
            </a:pPr>
            <a:r>
              <a:rPr lang="en-US" dirty="0"/>
              <a:t>                    </a:t>
            </a:r>
            <a:r>
              <a:rPr lang="en-US" dirty="0">
                <a:latin typeface="Ubuntu Mono" panose="020B0309030602030204" pitchFamily="49" charset="0"/>
              </a:rPr>
              <a:t>add x5, x5, x3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34B35B-016A-45F0-AF37-17B9E9EF3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A85A75-2F62-4CCF-ADFF-B48BA0084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83385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BDA3B-33DF-40EE-84AA-30F068EDD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principle: simplicity favors regularity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54499-C363-4405-BE5E-D9F8DAE85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Variable number of operands would simplify assembly code</a:t>
            </a:r>
          </a:p>
          <a:p>
            <a:r>
              <a:rPr lang="en-US" dirty="0"/>
              <a:t>BUT hardware becomes more complex</a:t>
            </a:r>
          </a:p>
          <a:p>
            <a:r>
              <a:rPr lang="en-US" dirty="0"/>
              <a:t>Simple hardware == lower design time and manufacturing cost</a:t>
            </a:r>
          </a:p>
          <a:p>
            <a:r>
              <a:rPr lang="en-US" dirty="0"/>
              <a:t>Trade-off: more instructions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C2B83-7A8D-4657-B281-E4E77CC03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E943B6-CF2A-4C17-A285-7E12834F5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14962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0C0F3-D657-4534-B394-2CCF4ADCB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principle: smaller is faster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B40630-FFBA-4FB5-B793-6DDA79DA04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Only 32 registers…</a:t>
            </a:r>
          </a:p>
          <a:p>
            <a:r>
              <a:rPr lang="en-US" dirty="0"/>
              <a:t>Smaller circuits =&gt; shorter wires =&gt; faster signal transmission =&gt; faster clocks</a:t>
            </a:r>
          </a:p>
          <a:p>
            <a:r>
              <a:rPr lang="en-US" dirty="0"/>
              <a:t>Also cheaper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87296B-D804-440F-AC71-92299C0091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AB9AA1-5DBC-41B2-9D83-6475D9513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1821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35DF4-281D-4D86-AB44-C531CCB72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6629400" cy="1195386"/>
          </a:xfrm>
        </p:spPr>
        <p:txBody>
          <a:bodyPr/>
          <a:lstStyle/>
          <a:p>
            <a:r>
              <a:rPr lang="en-US" dirty="0"/>
              <a:t>Immediate instructions – one operand is provided in instruction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B78A8A-08D9-454E-850A-1EB67CD45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>
                <a:latin typeface="Ubuntu Mono" panose="020B0309030602030204" pitchFamily="49" charset="0"/>
              </a:rPr>
              <a:t>addi</a:t>
            </a:r>
            <a:r>
              <a:rPr lang="en-US" sz="2400" dirty="0">
                <a:latin typeface="Ubuntu Mono" panose="020B0309030602030204" pitchFamily="49" charset="0"/>
              </a:rPr>
              <a:t> x5, x5, 1     # x5 = x5 + 1</a:t>
            </a:r>
          </a:p>
          <a:p>
            <a:r>
              <a:rPr lang="en-US" sz="2400" dirty="0" err="1">
                <a:latin typeface="Ubuntu Mono" panose="020B0309030602030204" pitchFamily="49" charset="0"/>
              </a:rPr>
              <a:t>andi</a:t>
            </a:r>
            <a:r>
              <a:rPr lang="en-US" sz="2400" dirty="0">
                <a:latin typeface="Ubuntu Mono" panose="020B0309030602030204" pitchFamily="49" charset="0"/>
              </a:rPr>
              <a:t> x6, x6, 0xFF  # mask lower 8 bits</a:t>
            </a:r>
          </a:p>
          <a:p>
            <a:r>
              <a:rPr lang="en-US" sz="2400" dirty="0" err="1">
                <a:latin typeface="Ubuntu Mono" panose="020B0309030602030204" pitchFamily="49" charset="0"/>
              </a:rPr>
              <a:t>slli</a:t>
            </a:r>
            <a:r>
              <a:rPr lang="en-US" sz="2400" dirty="0">
                <a:latin typeface="Ubuntu Mono" panose="020B0309030602030204" pitchFamily="49" charset="0"/>
              </a:rPr>
              <a:t> x7, x7, 2     # left shift by 2 (×4)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A5561C-0626-4756-BDAE-2FF6ED53C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7363E1-9EDC-48E4-BE13-8F58EF122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3155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5FDB8-601A-430C-B5BB-48ACED913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Referring to memory addresses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35C33D-B82C-4BCC-A1F1-66489549E5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Only 2 instructions for this: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Load:</a:t>
            </a:r>
          </a:p>
          <a:p>
            <a:pPr marL="0" indent="0">
              <a:buNone/>
            </a:pPr>
            <a:r>
              <a:rPr lang="pl-PL" sz="2400" dirty="0">
                <a:latin typeface="Ubuntu Mono" panose="020B0309030602030204" pitchFamily="49" charset="0"/>
              </a:rPr>
              <a:t>lw x6, 12(x2)      # x6 ← Mem[x2 + 12]</a:t>
            </a:r>
            <a:endParaRPr lang="en-US" sz="2400" dirty="0">
              <a:latin typeface="Ubuntu Mono" panose="020B0309030602030204" pitchFamily="49" charset="0"/>
            </a:endParaRPr>
          </a:p>
          <a:p>
            <a:pPr marL="0" indent="0">
              <a:buNone/>
            </a:pPr>
            <a:endParaRPr lang="en-US" sz="2400" dirty="0">
              <a:latin typeface="Ubuntu Mono" panose="020B0309030602030204" pitchFamily="49" charset="0"/>
            </a:endParaRPr>
          </a:p>
          <a:p>
            <a:pPr marL="0" indent="0">
              <a:buNone/>
            </a:pPr>
            <a:r>
              <a:rPr lang="en-US" dirty="0"/>
              <a:t>Store:</a:t>
            </a:r>
            <a:endParaRPr lang="pl-PL" dirty="0"/>
          </a:p>
          <a:p>
            <a:pPr marL="0" indent="0">
              <a:buNone/>
            </a:pPr>
            <a:r>
              <a:rPr lang="pl-PL" sz="2400" dirty="0">
                <a:latin typeface="Ubuntu Mono" panose="020B0309030602030204" pitchFamily="49" charset="0"/>
              </a:rPr>
              <a:t>sw x7, 4(x8)       # Mem[x8 + 4] ← x7</a:t>
            </a:r>
            <a:endParaRPr lang="en-US" sz="2400" dirty="0">
              <a:latin typeface="Ubuntu Mono" panose="020B03090306020302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D112C4-6B4F-4606-AFD3-632C68F85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74383D-C558-4E0C-8AC9-3E24B5F9F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4899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BE1FE-78E5-4D82-AAC3-5B30A907B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Referring to memory addresses – general modes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32092F-F5DE-4853-BB5F-F95856EC7C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Register addressing: register contains address to refer to</a:t>
            </a:r>
          </a:p>
          <a:p>
            <a:r>
              <a:rPr lang="en-US" dirty="0"/>
              <a:t>Immediate addressing: address provided within the instruction itself as </a:t>
            </a:r>
            <a:r>
              <a:rPr lang="en-US" dirty="0" err="1"/>
              <a:t>Imm</a:t>
            </a:r>
            <a:endParaRPr lang="en-US" dirty="0"/>
          </a:p>
          <a:p>
            <a:r>
              <a:rPr lang="en-US" dirty="0"/>
              <a:t>Base + offset addressing: base address given in register + offset given as </a:t>
            </a:r>
            <a:r>
              <a:rPr lang="en-US" dirty="0" err="1"/>
              <a:t>Imm</a:t>
            </a:r>
            <a:r>
              <a:rPr lang="en-US" dirty="0"/>
              <a:t> gives actual address</a:t>
            </a:r>
          </a:p>
          <a:p>
            <a:r>
              <a:rPr lang="en-US" dirty="0"/>
              <a:t>PC-relative addressing: actual address is PC + offset given as </a:t>
            </a:r>
            <a:r>
              <a:rPr lang="en-US" dirty="0" err="1"/>
              <a:t>Imm</a:t>
            </a:r>
            <a:endParaRPr lang="en-US" dirty="0"/>
          </a:p>
          <a:p>
            <a:pPr lvl="1"/>
            <a:r>
              <a:rPr lang="en-US" dirty="0"/>
              <a:t>Why is this type of addressing relevant?</a:t>
            </a:r>
          </a:p>
          <a:p>
            <a:r>
              <a:rPr lang="en-US" dirty="0"/>
              <a:t>Which of these modes is used in RISC-V?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4A84A6-2E57-4341-BEDA-16FA95D6A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AA8110-A33C-4A9C-8E41-DED08063E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7716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3776E-4C5C-46C9-97B5-F3E4978B2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3E46C-6DAA-4F61-AB95-A670868E9A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" y="1419891"/>
            <a:ext cx="8991600" cy="501491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How the program counter changes</a:t>
            </a:r>
          </a:p>
          <a:p>
            <a:r>
              <a:rPr lang="en-US" dirty="0"/>
              <a:t>Influences order of instruction execution</a:t>
            </a:r>
          </a:p>
          <a:p>
            <a:r>
              <a:rPr lang="en-US" dirty="0"/>
              <a:t>Sequential execution: PC </a:t>
            </a:r>
            <a:r>
              <a:rPr lang="en-US" dirty="0">
                <a:sym typeface="Wingdings" panose="05000000000000000000" pitchFamily="2" charset="2"/>
              </a:rPr>
              <a:t> PC + 4</a:t>
            </a:r>
          </a:p>
          <a:p>
            <a:r>
              <a:rPr lang="en-US" dirty="0">
                <a:sym typeface="Wingdings" panose="05000000000000000000" pitchFamily="2" charset="2"/>
              </a:rPr>
              <a:t>Jump to an address:</a:t>
            </a:r>
          </a:p>
          <a:p>
            <a:pPr lvl="1"/>
            <a:r>
              <a:rPr lang="en-US" sz="1800" dirty="0" err="1">
                <a:latin typeface="Ubuntu Mono" panose="020B0309030602030204" pitchFamily="49" charset="0"/>
                <a:sym typeface="Wingdings" panose="05000000000000000000" pitchFamily="2" charset="2"/>
              </a:rPr>
              <a:t>jal</a:t>
            </a:r>
            <a:r>
              <a:rPr lang="en-US" sz="1800" dirty="0">
                <a:latin typeface="Ubuntu Mono" panose="020B0309030602030204" pitchFamily="49" charset="0"/>
                <a:sym typeface="Wingdings" panose="05000000000000000000" pitchFamily="2" charset="2"/>
              </a:rPr>
              <a:t> ra, </a:t>
            </a:r>
            <a:r>
              <a:rPr lang="en-US" sz="1800" dirty="0" err="1">
                <a:latin typeface="Ubuntu Mono" panose="020B0309030602030204" pitchFamily="49" charset="0"/>
                <a:sym typeface="Wingdings" panose="05000000000000000000" pitchFamily="2" charset="2"/>
              </a:rPr>
              <a:t>func</a:t>
            </a:r>
            <a:r>
              <a:rPr lang="en-US" sz="1800" dirty="0">
                <a:latin typeface="Ubuntu Mono" panose="020B0309030602030204" pitchFamily="49" charset="0"/>
                <a:sym typeface="Wingdings" panose="05000000000000000000" pitchFamily="2" charset="2"/>
              </a:rPr>
              <a:t>          # ra ← PC + 4, PC ← </a:t>
            </a:r>
            <a:r>
              <a:rPr lang="en-US" sz="1800" dirty="0" err="1">
                <a:latin typeface="Ubuntu Mono" panose="020B0309030602030204" pitchFamily="49" charset="0"/>
                <a:sym typeface="Wingdings" panose="05000000000000000000" pitchFamily="2" charset="2"/>
              </a:rPr>
              <a:t>func</a:t>
            </a:r>
            <a:endParaRPr lang="en-US" sz="1800" dirty="0">
              <a:latin typeface="Ubuntu Mono" panose="020B0309030602030204" pitchFamily="49" charset="0"/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Transfer program flow to </a:t>
            </a:r>
            <a:r>
              <a:rPr lang="en-US" dirty="0" err="1">
                <a:sym typeface="Wingdings" panose="05000000000000000000" pitchFamily="2" charset="2"/>
              </a:rPr>
              <a:t>func</a:t>
            </a:r>
            <a:r>
              <a:rPr lang="en-US" dirty="0">
                <a:sym typeface="Wingdings" panose="05000000000000000000" pitchFamily="2" charset="2"/>
              </a:rPr>
              <a:t>, but stores old address so it can return back there</a:t>
            </a:r>
          </a:p>
          <a:p>
            <a:r>
              <a:rPr lang="en-US" dirty="0">
                <a:sym typeface="Wingdings" panose="05000000000000000000" pitchFamily="2" charset="2"/>
              </a:rPr>
              <a:t>Conditional branches:</a:t>
            </a:r>
          </a:p>
          <a:p>
            <a:pPr lvl="1"/>
            <a:r>
              <a:rPr lang="en-US" sz="1800" dirty="0" err="1">
                <a:latin typeface="Ubuntu Mono" panose="020B0309030602030204" pitchFamily="49" charset="0"/>
                <a:sym typeface="Wingdings" panose="05000000000000000000" pitchFamily="2" charset="2"/>
              </a:rPr>
              <a:t>beq</a:t>
            </a:r>
            <a:r>
              <a:rPr lang="en-US" sz="1800" dirty="0">
                <a:latin typeface="Ubuntu Mono" panose="020B0309030602030204" pitchFamily="49" charset="0"/>
                <a:sym typeface="Wingdings" panose="05000000000000000000" pitchFamily="2" charset="2"/>
              </a:rPr>
              <a:t> x1, x2, label        # if x1==x2, PC ← label else PC + 4</a:t>
            </a:r>
          </a:p>
          <a:p>
            <a:r>
              <a:rPr lang="en-US" dirty="0">
                <a:sym typeface="Wingdings" panose="05000000000000000000" pitchFamily="2" charset="2"/>
              </a:rPr>
              <a:t>PC-relative (only mode in RISC-V)</a:t>
            </a:r>
            <a:endParaRPr lang="en-US" sz="2800" dirty="0">
              <a:latin typeface="Ubuntu Mono" panose="020B0309030602030204" pitchFamily="49" charset="0"/>
              <a:sym typeface="Wingdings" panose="05000000000000000000" pitchFamily="2" charset="2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4D195-7F27-45ED-A0D2-7E90DE8AA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50455A-7A97-4DE4-A9AA-0E6D90EB9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28160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FE7C0-B8CE-45C2-8558-31A744FD2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PC-relative control flow simplifies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54A5E-62F4-4D3E-9599-EDECE4D52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Position-independent code</a:t>
            </a:r>
          </a:p>
          <a:p>
            <a:r>
              <a:rPr lang="en-US" dirty="0"/>
              <a:t>Simplifies linking and relocation</a:t>
            </a:r>
          </a:p>
          <a:p>
            <a:r>
              <a:rPr lang="en-US" dirty="0"/>
              <a:t>Avoids absolute addresses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B6436E-8D3F-47EE-A392-D6F64B0CC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F1A32B-7CD4-416F-B2C9-1DBAF463E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860409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23CCA-132D-4601-8820-29E263985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4"/>
            <a:ext cx="2429793" cy="6423025"/>
          </a:xfrm>
        </p:spPr>
        <p:txBody>
          <a:bodyPr/>
          <a:lstStyle/>
          <a:p>
            <a:r>
              <a:rPr lang="en-US" dirty="0"/>
              <a:t>Overview of RV32I instructions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BFCE4F-4C57-45D5-9EBC-752C0648E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AD99D9-BE0E-4C15-8D9E-29B9F5AAF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35</a:t>
            </a:fld>
            <a:endParaRPr lang="en-US" altLang="en-US"/>
          </a:p>
        </p:txBody>
      </p:sp>
      <p:pic>
        <p:nvPicPr>
          <p:cNvPr id="5122" name="Picture 2" descr="Solved RV32I Base Integer InstructionsCore Instruction | Chegg.com">
            <a:extLst>
              <a:ext uri="{FF2B5EF4-FFF2-40B4-BE49-F238E27FC236}">
                <a16:creationId xmlns:a16="http://schemas.microsoft.com/office/drawing/2014/main" id="{5E8AF553-C01E-4028-97C1-DDD4CAB2CFE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45"/>
          <a:stretch/>
        </p:blipFill>
        <p:spPr bwMode="auto">
          <a:xfrm>
            <a:off x="2582193" y="0"/>
            <a:ext cx="656180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57674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C038C-B566-4B5B-B803-28DD2AD81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snippets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8FC768A-0DC7-4C13-92E5-7C04D1EDFE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099" y="1867403"/>
            <a:ext cx="7887801" cy="417253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04F3A-5E41-4D37-9F32-53DFC7756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604281-7DE4-4F9B-B2B3-FFAA56B37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942998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C038C-B566-4B5B-B803-28DD2AD81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snippets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8FC768A-0DC7-4C13-92E5-7C04D1EDFE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24919" y="1867403"/>
            <a:ext cx="7094161" cy="417253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04F3A-5E41-4D37-9F32-53DFC7756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604281-7DE4-4F9B-B2B3-FFAA56B37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620902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C038C-B566-4B5B-B803-28DD2AD81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snippets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8FC768A-0DC7-4C13-92E5-7C04D1EDFE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24919" y="1903678"/>
            <a:ext cx="7094161" cy="409998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04F3A-5E41-4D37-9F32-53DFC7756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604281-7DE4-4F9B-B2B3-FFAA56B37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032008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91938C0-3DDB-4F1E-94FD-B09E81901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Instructions as seen by hardware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04A134-7048-4E04-AF75-801A60B58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F9BAE1-BB5F-4B29-A086-A09405542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39</a:t>
            </a:fld>
            <a:endParaRPr lang="en-US" alt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17E9B3C-8585-4113-BD10-64561D002C4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9673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29929-044D-4B12-AD7C-75FE1CB09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6 basic RV32I instruction formats – </a:t>
            </a:r>
            <a:r>
              <a:rPr lang="pl-PL" dirty="0"/>
              <a:t>R, I, S, B, U, J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1C3C5D-0794-458C-88D0-35F7CCFCD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6BFD41-A54E-4290-BAB0-EFEC72341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40</a:t>
            </a:fld>
            <a:endParaRPr lang="en-US" alt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6D613122-7347-4E45-8957-DC5537E096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" y="1828800"/>
            <a:ext cx="9144000" cy="3866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653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B0D94-2EBC-4705-9049-4180DEC9D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structure of instructions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80F8F5-FF32-4693-9736-35BB18C2E9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8839200" cy="2592389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opcode (7 bits): operation code, what operation to perform</a:t>
            </a:r>
          </a:p>
          <a:p>
            <a:r>
              <a:rPr lang="en-US" dirty="0" err="1"/>
              <a:t>rd</a:t>
            </a:r>
            <a:r>
              <a:rPr lang="en-US" dirty="0"/>
              <a:t> (5 bits): destination register, for the result of the operation</a:t>
            </a:r>
          </a:p>
          <a:p>
            <a:r>
              <a:rPr lang="en-US" dirty="0">
                <a:solidFill>
                  <a:srgbClr val="FF0000"/>
                </a:solidFill>
              </a:rPr>
              <a:t>rs1, rs2 (5 bits each): source registers, or operands</a:t>
            </a:r>
          </a:p>
          <a:p>
            <a:r>
              <a:rPr lang="en-US" dirty="0"/>
              <a:t>funct3 (3-bit), funct7 (7-bit): refine operation</a:t>
            </a:r>
          </a:p>
          <a:p>
            <a:r>
              <a:rPr lang="en-US" dirty="0" err="1"/>
              <a:t>imm</a:t>
            </a:r>
            <a:r>
              <a:rPr lang="en-US" dirty="0"/>
              <a:t>: immediate, directly provide a literal value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8E29E9-D7B7-4281-8921-01434E08D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E1C561-4760-47B4-BEAA-290DE6DB9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41</a:t>
            </a:fld>
            <a:endParaRPr lang="en-US" altLang="en-US"/>
          </a:p>
        </p:txBody>
      </p:sp>
      <p:pic>
        <p:nvPicPr>
          <p:cNvPr id="6" name="Content Placeholder 8">
            <a:extLst>
              <a:ext uri="{FF2B5EF4-FFF2-40B4-BE49-F238E27FC236}">
                <a16:creationId xmlns:a16="http://schemas.microsoft.com/office/drawing/2014/main" id="{0F541CE7-9915-43AD-986C-EB4F7CDBD4E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913" b="32995"/>
          <a:stretch/>
        </p:blipFill>
        <p:spPr bwMode="auto">
          <a:xfrm>
            <a:off x="0" y="4098923"/>
            <a:ext cx="9144000" cy="2362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81040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A966B-3027-496E-A874-5715A1197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R-format instructions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6E8F30-3C40-49A3-B1EC-35224FCC7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E9FE2E-B71B-4B7A-9EA5-3658E6EC3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42</a:t>
            </a:fld>
            <a:endParaRPr lang="en-US" alt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7C562E5-8AAC-4181-A35B-D20B9A7882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21217"/>
          <a:stretch/>
        </p:blipFill>
        <p:spPr>
          <a:xfrm>
            <a:off x="1023442" y="1852260"/>
            <a:ext cx="7097115" cy="2829426"/>
          </a:xfrm>
          <a:prstGeom prst="rect">
            <a:avLst/>
          </a:prstGeom>
        </p:spPr>
      </p:pic>
      <p:pic>
        <p:nvPicPr>
          <p:cNvPr id="7" name="Content Placeholder 8">
            <a:extLst>
              <a:ext uri="{FF2B5EF4-FFF2-40B4-BE49-F238E27FC236}">
                <a16:creationId xmlns:a16="http://schemas.microsoft.com/office/drawing/2014/main" id="{6E2C86BB-F555-440B-957C-89020C61D8D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913" b="73969"/>
          <a:stretch/>
        </p:blipFill>
        <p:spPr bwMode="auto">
          <a:xfrm>
            <a:off x="-36576" y="1016030"/>
            <a:ext cx="9144000" cy="7778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79ADDB5-955B-4260-B587-3EDD238D66EE}"/>
              </a:ext>
            </a:extLst>
          </p:cNvPr>
          <p:cNvSpPr txBox="1">
            <a:spLocks/>
          </p:cNvSpPr>
          <p:nvPr/>
        </p:nvSpPr>
        <p:spPr bwMode="auto">
          <a:xfrm>
            <a:off x="152400" y="4799011"/>
            <a:ext cx="8839200" cy="16017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10000"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opcode: instruction class (e.g., integer ALU)</a:t>
            </a:r>
          </a:p>
          <a:p>
            <a:r>
              <a:rPr lang="en-US" dirty="0"/>
              <a:t>funct3: selects ALU operation group</a:t>
            </a:r>
          </a:p>
          <a:p>
            <a:r>
              <a:rPr lang="en-US" dirty="0">
                <a:solidFill>
                  <a:srgbClr val="FF0000"/>
                </a:solidFill>
              </a:rPr>
              <a:t>funct7: refines operation (e.g., add vs sub)</a:t>
            </a:r>
          </a:p>
        </p:txBody>
      </p:sp>
    </p:spTree>
    <p:extLst>
      <p:ext uri="{BB962C8B-B14F-4D97-AF65-F5344CB8AC3E}">
        <p14:creationId xmlns:p14="http://schemas.microsoft.com/office/powerpoint/2010/main" val="2045574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A966B-3027-496E-A874-5715A1197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I-format instructions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6E8F30-3C40-49A3-B1EC-35224FCC7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E9FE2E-B71B-4B7A-9EA5-3658E6EC3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43</a:t>
            </a:fld>
            <a:endParaRPr lang="en-US" alt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7C562E5-8AAC-4181-A35B-D20B9A7882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" t="23178" r="-515" b="729"/>
          <a:stretch/>
        </p:blipFill>
        <p:spPr>
          <a:xfrm>
            <a:off x="-1" y="1857916"/>
            <a:ext cx="7369796" cy="3457258"/>
          </a:xfrm>
          <a:prstGeom prst="rect">
            <a:avLst/>
          </a:prstGeom>
        </p:spPr>
      </p:pic>
      <p:pic>
        <p:nvPicPr>
          <p:cNvPr id="7" name="Content Placeholder 8">
            <a:extLst>
              <a:ext uri="{FF2B5EF4-FFF2-40B4-BE49-F238E27FC236}">
                <a16:creationId xmlns:a16="http://schemas.microsoft.com/office/drawing/2014/main" id="{6E2C86BB-F555-440B-957C-89020C61D8D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913" b="73969"/>
          <a:stretch/>
        </p:blipFill>
        <p:spPr bwMode="auto">
          <a:xfrm>
            <a:off x="-36576" y="1016030"/>
            <a:ext cx="9144000" cy="7778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Content Placeholder 8">
            <a:extLst>
              <a:ext uri="{FF2B5EF4-FFF2-40B4-BE49-F238E27FC236}">
                <a16:creationId xmlns:a16="http://schemas.microsoft.com/office/drawing/2014/main" id="{FB8E49C5-CA30-471D-9AEA-6CF8F4598F2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00" t="26681" r="-400" b="66627"/>
          <a:stretch/>
        </p:blipFill>
        <p:spPr bwMode="auto">
          <a:xfrm>
            <a:off x="-1" y="1542826"/>
            <a:ext cx="9144000" cy="258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AF3E94A-AF3C-4F5A-BA07-8F772D35996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4199" b="49793"/>
          <a:stretch/>
        </p:blipFill>
        <p:spPr>
          <a:xfrm>
            <a:off x="1785104" y="5194998"/>
            <a:ext cx="7358895" cy="1663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5657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4FC67-3460-4491-B6D0-8B9E28448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Notice any quirks?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7466A0-CEA0-48EF-9E83-CE651262AD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2743199"/>
            <a:ext cx="8839200" cy="371792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What happened to func7 in I-type arithmetic?</a:t>
            </a:r>
          </a:p>
          <a:p>
            <a:r>
              <a:rPr lang="en-US" dirty="0"/>
              <a:t>Why not use the same encoding logic for operation?</a:t>
            </a:r>
          </a:p>
          <a:p>
            <a:r>
              <a:rPr lang="en-US" dirty="0"/>
              <a:t>I-types prefer more bits for </a:t>
            </a:r>
            <a:r>
              <a:rPr lang="en-US" dirty="0" err="1"/>
              <a:t>Imm</a:t>
            </a:r>
            <a:endParaRPr lang="en-US" dirty="0"/>
          </a:p>
          <a:p>
            <a:r>
              <a:rPr lang="en-US" dirty="0"/>
              <a:t>Why not remove func7 from R-type also?</a:t>
            </a:r>
          </a:p>
          <a:p>
            <a:r>
              <a:rPr lang="en-US" dirty="0"/>
              <a:t>Fewer R-type instructions supported (currently 10 R-type instructions, so 3 func3 bits insufficient)</a:t>
            </a:r>
          </a:p>
          <a:p>
            <a:r>
              <a:rPr lang="en-US" dirty="0"/>
              <a:t>I-type does not have </a:t>
            </a:r>
            <a:r>
              <a:rPr lang="en-US" dirty="0" err="1"/>
              <a:t>subi</a:t>
            </a:r>
            <a:r>
              <a:rPr lang="en-US" dirty="0"/>
              <a:t> (</a:t>
            </a:r>
            <a:r>
              <a:rPr lang="en-US" dirty="0">
                <a:solidFill>
                  <a:srgbClr val="FFC000"/>
                </a:solidFill>
              </a:rPr>
              <a:t>and jugglery for shifts</a:t>
            </a:r>
            <a:r>
              <a:rPr lang="en-US" dirty="0"/>
              <a:t>)</a:t>
            </a:r>
          </a:p>
          <a:p>
            <a:r>
              <a:rPr lang="en-US" dirty="0"/>
              <a:t>Hierarchical decoding – next class!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9AC0AF-5699-446F-9E19-CD8C0BA45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0681F8-FD37-4288-A3A2-817AB1146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44</a:t>
            </a:fld>
            <a:endParaRPr lang="en-US" alt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45A31F5-594F-4C22-9333-42386EAA1C9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217" b="65811"/>
          <a:stretch/>
        </p:blipFill>
        <p:spPr bwMode="auto">
          <a:xfrm>
            <a:off x="131064" y="1446210"/>
            <a:ext cx="8753812" cy="5746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Content Placeholder 5">
            <a:extLst>
              <a:ext uri="{FF2B5EF4-FFF2-40B4-BE49-F238E27FC236}">
                <a16:creationId xmlns:a16="http://schemas.microsoft.com/office/drawing/2014/main" id="{0B04911C-EE10-429B-A9A2-8815F86D280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" t="23178" r="-515" b="70932"/>
          <a:stretch/>
        </p:blipFill>
        <p:spPr bwMode="auto">
          <a:xfrm>
            <a:off x="131064" y="2158939"/>
            <a:ext cx="9076944" cy="3296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40946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A966B-3027-496E-A874-5715A1197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S-format instructions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6E8F30-3C40-49A3-B1EC-35224FCC7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E9FE2E-B71B-4B7A-9EA5-3658E6EC3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45</a:t>
            </a:fld>
            <a:endParaRPr lang="en-US" altLang="en-US"/>
          </a:p>
        </p:txBody>
      </p:sp>
      <p:pic>
        <p:nvPicPr>
          <p:cNvPr id="7" name="Content Placeholder 8">
            <a:extLst>
              <a:ext uri="{FF2B5EF4-FFF2-40B4-BE49-F238E27FC236}">
                <a16:creationId xmlns:a16="http://schemas.microsoft.com/office/drawing/2014/main" id="{6E2C86BB-F555-440B-957C-89020C61D8D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913" b="73969"/>
          <a:stretch/>
        </p:blipFill>
        <p:spPr bwMode="auto">
          <a:xfrm>
            <a:off x="-36576" y="1016030"/>
            <a:ext cx="9144000" cy="7778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Content Placeholder 8">
            <a:extLst>
              <a:ext uri="{FF2B5EF4-FFF2-40B4-BE49-F238E27FC236}">
                <a16:creationId xmlns:a16="http://schemas.microsoft.com/office/drawing/2014/main" id="{FB8E49C5-CA30-471D-9AEA-6CF8F4598F2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00" t="45812" r="-400" b="47496"/>
          <a:stretch/>
        </p:blipFill>
        <p:spPr bwMode="auto">
          <a:xfrm>
            <a:off x="-1" y="1542826"/>
            <a:ext cx="9144000" cy="258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C1CDC1CF-D8FB-4C91-928E-E96B683A8F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t="57786"/>
          <a:stretch/>
        </p:blipFill>
        <p:spPr>
          <a:xfrm>
            <a:off x="267576" y="2066036"/>
            <a:ext cx="8535696" cy="1132020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E0FB649-B672-44ED-BAAC-B9B1C6238FC4}"/>
              </a:ext>
            </a:extLst>
          </p:cNvPr>
          <p:cNvSpPr txBox="1">
            <a:spLocks/>
          </p:cNvSpPr>
          <p:nvPr/>
        </p:nvSpPr>
        <p:spPr bwMode="auto">
          <a:xfrm>
            <a:off x="152400" y="3429000"/>
            <a:ext cx="8839200" cy="30321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More quirks!</a:t>
            </a:r>
          </a:p>
          <a:p>
            <a:r>
              <a:rPr lang="en-US" dirty="0"/>
              <a:t>Why is </a:t>
            </a:r>
            <a:r>
              <a:rPr lang="en-US" dirty="0" err="1"/>
              <a:t>imm</a:t>
            </a:r>
            <a:r>
              <a:rPr lang="en-US" dirty="0"/>
              <a:t> split?</a:t>
            </a:r>
          </a:p>
          <a:p>
            <a:r>
              <a:rPr lang="en-US" dirty="0"/>
              <a:t>Prefer rs1, rs2, </a:t>
            </a:r>
            <a:r>
              <a:rPr lang="en-US" dirty="0" err="1"/>
              <a:t>rd</a:t>
            </a:r>
            <a:r>
              <a:rPr lang="en-US" dirty="0"/>
              <a:t> (whenever required) in the fixed locations – simplifies decoding circuit</a:t>
            </a:r>
          </a:p>
        </p:txBody>
      </p:sp>
    </p:spTree>
    <p:extLst>
      <p:ext uri="{BB962C8B-B14F-4D97-AF65-F5344CB8AC3E}">
        <p14:creationId xmlns:p14="http://schemas.microsoft.com/office/powerpoint/2010/main" val="1763038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8AE62-8879-4367-AA6C-5EC0289CE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picture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D0724A1-09FF-47B3-87F9-37F3A3D68BA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92993498"/>
              </p:ext>
            </p:extLst>
          </p:nvPr>
        </p:nvGraphicFramePr>
        <p:xfrm>
          <a:off x="304800" y="1067218"/>
          <a:ext cx="8458200" cy="5714582"/>
        </p:xfrm>
        <a:graphic>
          <a:graphicData uri="http://schemas.openxmlformats.org/drawingml/2006/table">
            <a:tbl>
              <a:tblPr/>
              <a:tblGrid>
                <a:gridCol w="1409700">
                  <a:extLst>
                    <a:ext uri="{9D8B030D-6E8A-4147-A177-3AD203B41FA5}">
                      <a16:colId xmlns:a16="http://schemas.microsoft.com/office/drawing/2014/main" val="3224884320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3015010748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2198131326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2415265526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3274127471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1150862817"/>
                    </a:ext>
                  </a:extLst>
                </a:gridCol>
              </a:tblGrid>
              <a:tr h="275754">
                <a:tc>
                  <a:txBody>
                    <a:bodyPr/>
                    <a:lstStyle/>
                    <a:p>
                      <a:r>
                        <a:rPr lang="en-US" sz="1300" b="1"/>
                        <a:t>Opcode (binary)</a:t>
                      </a:r>
                      <a:endParaRPr lang="en-US" sz="1300"/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/>
                        <a:t>Opcode (hex)</a:t>
                      </a:r>
                      <a:endParaRPr lang="en-US" sz="1300"/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/>
                        <a:t>Instruction Class</a:t>
                      </a:r>
                      <a:endParaRPr lang="en-US" sz="1300"/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/>
                        <a:t>Format(s)</a:t>
                      </a:r>
                      <a:endParaRPr lang="en-US" sz="1300"/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/>
                        <a:t>Role of funct3</a:t>
                      </a:r>
                      <a:endParaRPr lang="en-US" sz="1300"/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/>
                        <a:t>Role of funct7</a:t>
                      </a:r>
                      <a:endParaRPr lang="en-US" sz="1300"/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8668729"/>
                  </a:ext>
                </a:extLst>
              </a:tr>
              <a:tr h="915699">
                <a:tc>
                  <a:txBody>
                    <a:bodyPr/>
                    <a:lstStyle/>
                    <a:p>
                      <a:r>
                        <a:rPr lang="en-US" sz="1300"/>
                        <a:t>0110011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0x33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Integer register–register ALU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R-type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Selects ALU operation group (ADD/SUB, AND/OR, shifts, SLT)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Distinguishes operations sharing same funct3 (e.g., ADD vs SUB, SRL vs SRA)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3540272"/>
                  </a:ext>
                </a:extLst>
              </a:tr>
              <a:tr h="748474">
                <a:tc>
                  <a:txBody>
                    <a:bodyPr/>
                    <a:lstStyle/>
                    <a:p>
                      <a:r>
                        <a:rPr lang="en-US" sz="1300"/>
                        <a:t>0010011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0x13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Integer register–immediate ALU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I-type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Selects immediate ALU operation (ADDI, ANDI, ORI, shifts)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Used only for shift immediates (slli, srli, srai)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6483226"/>
                  </a:ext>
                </a:extLst>
              </a:tr>
              <a:tr h="393933">
                <a:tc>
                  <a:txBody>
                    <a:bodyPr/>
                    <a:lstStyle/>
                    <a:p>
                      <a:r>
                        <a:rPr lang="en-US" sz="1300" dirty="0"/>
                        <a:t>0000011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0x03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Loads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I-type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Selects load width (lb, lh, lw, etc.)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Not used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490152"/>
                  </a:ext>
                </a:extLst>
              </a:tr>
              <a:tr h="393933">
                <a:tc>
                  <a:txBody>
                    <a:bodyPr/>
                    <a:lstStyle/>
                    <a:p>
                      <a:r>
                        <a:rPr lang="en-US" sz="1300"/>
                        <a:t>0100011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0x23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Stores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S-type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Selects store width (sb, sh, sw)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Not used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32716223"/>
                  </a:ext>
                </a:extLst>
              </a:tr>
              <a:tr h="630293">
                <a:tc>
                  <a:txBody>
                    <a:bodyPr/>
                    <a:lstStyle/>
                    <a:p>
                      <a:r>
                        <a:rPr lang="en-US" sz="1300"/>
                        <a:t>1100011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0x63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Conditional branches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B-type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1300"/>
                        <a:t>Selects comparison type (beq, bne, blt, bge, etc.)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Not used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1377793"/>
                  </a:ext>
                </a:extLst>
              </a:tr>
              <a:tr h="214655">
                <a:tc>
                  <a:txBody>
                    <a:bodyPr/>
                    <a:lstStyle/>
                    <a:p>
                      <a:r>
                        <a:rPr lang="en-US" sz="1300"/>
                        <a:t>1101111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0x6F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Jump and link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J-type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Not used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Not used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0344617"/>
                  </a:ext>
                </a:extLst>
              </a:tr>
              <a:tr h="389916">
                <a:tc>
                  <a:txBody>
                    <a:bodyPr/>
                    <a:lstStyle/>
                    <a:p>
                      <a:r>
                        <a:rPr lang="en-US" sz="1300"/>
                        <a:t>1100111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0x67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Jump and link register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I-type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Fixed (000)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Not used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3849821"/>
                  </a:ext>
                </a:extLst>
              </a:tr>
              <a:tr h="389916">
                <a:tc>
                  <a:txBody>
                    <a:bodyPr/>
                    <a:lstStyle/>
                    <a:p>
                      <a:r>
                        <a:rPr lang="en-US" sz="1300"/>
                        <a:t>0110111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0x37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Load upper immediate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U-type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Not used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Not used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7450084"/>
                  </a:ext>
                </a:extLst>
              </a:tr>
              <a:tr h="393933">
                <a:tc>
                  <a:txBody>
                    <a:bodyPr/>
                    <a:lstStyle/>
                    <a:p>
                      <a:r>
                        <a:rPr lang="en-US" sz="1300"/>
                        <a:t>0010111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0x17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Add upper immediate to PC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U-type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Not used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Not used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630554"/>
                  </a:ext>
                </a:extLst>
              </a:tr>
              <a:tr h="512114">
                <a:tc>
                  <a:txBody>
                    <a:bodyPr/>
                    <a:lstStyle/>
                    <a:p>
                      <a:r>
                        <a:rPr lang="en-US" sz="1300"/>
                        <a:t>1110011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0x73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System / CSR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I-type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Selects CSR operation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Further refines system behavior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7305798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E51A88-544B-4210-8DEC-30A59C6AD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D406DE-DFEA-4728-A039-7BFFD30AF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952693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AFC57-0F8F-4F77-B1F3-4DDE95485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9A77A7-3904-446E-9445-B49892883A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FFD2AE-41A5-4D3D-806F-96EE5ABFB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64AEC7-4F96-4536-85C6-086792D86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3061481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F76C8-B5FD-4190-B442-CAE9F65FE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RV32I Register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762EC0-B1E3-40BC-8E85-AD620AE6D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6211"/>
            <a:ext cx="9144000" cy="5014912"/>
          </a:xfrm>
        </p:spPr>
        <p:txBody>
          <a:bodyPr>
            <a:normAutofit fontScale="92500"/>
          </a:bodyPr>
          <a:lstStyle/>
          <a:p>
            <a:r>
              <a:rPr lang="en-US" dirty="0"/>
              <a:t>32 integer registers, x0 to x31</a:t>
            </a:r>
          </a:p>
          <a:p>
            <a:pPr lvl="1"/>
            <a:r>
              <a:rPr lang="en-US" dirty="0"/>
              <a:t>Output ports </a:t>
            </a:r>
            <a:r>
              <a:rPr lang="en-US" b="1" dirty="0" err="1">
                <a:solidFill>
                  <a:schemeClr val="accent6"/>
                </a:solidFill>
              </a:rPr>
              <a:t>portA</a:t>
            </a:r>
            <a:r>
              <a:rPr lang="en-US" dirty="0"/>
              <a:t> and </a:t>
            </a:r>
            <a:r>
              <a:rPr lang="en-US" b="1" dirty="0" err="1">
                <a:solidFill>
                  <a:schemeClr val="accent6"/>
                </a:solidFill>
              </a:rPr>
              <a:t>portB</a:t>
            </a:r>
            <a:r>
              <a:rPr lang="en-US" dirty="0"/>
              <a:t> (readout of 32 bit data stored inside)</a:t>
            </a:r>
            <a:endParaRPr lang="en-US" b="1" dirty="0">
              <a:solidFill>
                <a:schemeClr val="accent6"/>
              </a:solidFill>
            </a:endParaRPr>
          </a:p>
          <a:p>
            <a:pPr lvl="1"/>
            <a:r>
              <a:rPr lang="en-US" dirty="0"/>
              <a:t> Input port </a:t>
            </a:r>
            <a:r>
              <a:rPr lang="en-US" b="1" dirty="0" err="1">
                <a:solidFill>
                  <a:schemeClr val="accent4"/>
                </a:solidFill>
              </a:rPr>
              <a:t>portW</a:t>
            </a:r>
            <a:r>
              <a:rPr lang="en-US" dirty="0"/>
              <a:t> (32 bit data that we want to write inside)</a:t>
            </a:r>
          </a:p>
          <a:p>
            <a:pPr lvl="1"/>
            <a:r>
              <a:rPr lang="en-US" b="1" dirty="0">
                <a:solidFill>
                  <a:schemeClr val="accent4"/>
                </a:solidFill>
              </a:rPr>
              <a:t>RW</a:t>
            </a:r>
            <a:r>
              <a:rPr lang="en-US" dirty="0"/>
              <a:t>, </a:t>
            </a:r>
            <a:r>
              <a:rPr lang="en-US" b="1" dirty="0">
                <a:solidFill>
                  <a:schemeClr val="accent4"/>
                </a:solidFill>
              </a:rPr>
              <a:t>RA</a:t>
            </a:r>
            <a:r>
              <a:rPr lang="en-US" dirty="0"/>
              <a:t>, </a:t>
            </a:r>
            <a:r>
              <a:rPr lang="en-US" b="1" dirty="0">
                <a:solidFill>
                  <a:schemeClr val="accent4"/>
                </a:solidFill>
              </a:rPr>
              <a:t>RB</a:t>
            </a:r>
            <a:r>
              <a:rPr lang="en-US" dirty="0"/>
              <a:t> (address of register inside the RF resp.)</a:t>
            </a:r>
          </a:p>
          <a:p>
            <a:pPr lvl="1"/>
            <a:r>
              <a:rPr lang="en-US" b="1" dirty="0" err="1">
                <a:solidFill>
                  <a:schemeClr val="accent4"/>
                </a:solidFill>
              </a:rPr>
              <a:t>WEn</a:t>
            </a:r>
            <a:r>
              <a:rPr lang="en-US" dirty="0"/>
              <a:t> (whether to copy </a:t>
            </a:r>
            <a:r>
              <a:rPr lang="en-US" dirty="0" err="1"/>
              <a:t>portW</a:t>
            </a:r>
            <a:r>
              <a:rPr lang="en-US" dirty="0"/>
              <a:t> data into register inside or not)</a:t>
            </a:r>
          </a:p>
          <a:p>
            <a:pPr lvl="1"/>
            <a:r>
              <a:rPr lang="en-US" dirty="0" err="1"/>
              <a:t>Clk</a:t>
            </a:r>
            <a:r>
              <a:rPr lang="en-US" dirty="0"/>
              <a:t> (clock signal for write operation, read is combinational)!</a:t>
            </a:r>
          </a:p>
          <a:p>
            <a:r>
              <a:rPr lang="en-US" dirty="0"/>
              <a:t>Register x0 is hardwired to 0 (why?)</a:t>
            </a:r>
          </a:p>
          <a:p>
            <a:r>
              <a:rPr lang="en-US" dirty="0"/>
              <a:t>General purpose usage (</a:t>
            </a:r>
            <a:r>
              <a:rPr lang="en-US" dirty="0" err="1"/>
              <a:t>ie</a:t>
            </a:r>
            <a:r>
              <a:rPr lang="en-US" dirty="0"/>
              <a:t> registers are not restricted or reserved for specific uses)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D80091-232E-4B43-B703-DCA258269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CC0CD7-0520-4C0B-9FF2-425FDA761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48</a:t>
            </a:fld>
            <a:endParaRPr lang="en-US" alt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354A891-09B2-4C4D-B69E-1E7FEEA2F540}"/>
              </a:ext>
            </a:extLst>
          </p:cNvPr>
          <p:cNvGrpSpPr/>
          <p:nvPr/>
        </p:nvGrpSpPr>
        <p:grpSpPr>
          <a:xfrm>
            <a:off x="5410200" y="1"/>
            <a:ext cx="3733800" cy="1904999"/>
            <a:chOff x="7908709" y="309846"/>
            <a:chExt cx="4024334" cy="2188911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26D347F-FA61-4A90-9B44-2EAEF89C86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908709" y="309846"/>
              <a:ext cx="4024334" cy="2188911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342A7B1-F26F-45B1-ACF0-D17F22245B27}"/>
                </a:ext>
              </a:extLst>
            </p:cNvPr>
            <p:cNvSpPr/>
            <p:nvPr/>
          </p:nvSpPr>
          <p:spPr>
            <a:xfrm>
              <a:off x="7908709" y="854359"/>
              <a:ext cx="647917" cy="54451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994069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12561</TotalTime>
  <Words>2610</Words>
  <Application>Microsoft Office PowerPoint</Application>
  <PresentationFormat>On-screen Show (4:3)</PresentationFormat>
  <Paragraphs>472</Paragraphs>
  <Slides>48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4" baseType="lpstr">
      <vt:lpstr>-apple-system</vt:lpstr>
      <vt:lpstr>Arial</vt:lpstr>
      <vt:lpstr>Calibri</vt:lpstr>
      <vt:lpstr>Google Sans Text</vt:lpstr>
      <vt:lpstr>Ubuntu Mono</vt:lpstr>
      <vt:lpstr>Office Theme</vt:lpstr>
      <vt:lpstr>Computer Architecture</vt:lpstr>
      <vt:lpstr>Designing things that compute</vt:lpstr>
      <vt:lpstr>Designing things that compute</vt:lpstr>
      <vt:lpstr>Finite State Machines can accept instructions</vt:lpstr>
      <vt:lpstr>FSMs with instructions stored in memory = programmable computer!</vt:lpstr>
      <vt:lpstr>Implementing the programmable computer </vt:lpstr>
      <vt:lpstr>What instructions to implement?</vt:lpstr>
      <vt:lpstr>The Instruction Set Architecture</vt:lpstr>
      <vt:lpstr>ISA = Hardware – Software Contract</vt:lpstr>
      <vt:lpstr>What all does an ISA specify?</vt:lpstr>
      <vt:lpstr>The Great Debate: RISC vs. CISC</vt:lpstr>
      <vt:lpstr>The RISC design philosophy</vt:lpstr>
      <vt:lpstr>Multiplying two memory locations</vt:lpstr>
      <vt:lpstr>Implications of ISA choice</vt:lpstr>
      <vt:lpstr>Why RISC-V</vt:lpstr>
      <vt:lpstr>PowerPoint Presentation</vt:lpstr>
      <vt:lpstr>Programmer’s model</vt:lpstr>
      <vt:lpstr>CPU – perform operations on registers using the ALU</vt:lpstr>
      <vt:lpstr>Memory – a simple model</vt:lpstr>
      <vt:lpstr>Programmer’s model of a processor – what the programmer sees</vt:lpstr>
      <vt:lpstr>Registers as programmer resources</vt:lpstr>
      <vt:lpstr>Programmer’s models for ARM, x86-64 and RISC-V</vt:lpstr>
      <vt:lpstr>Assembly – talking to the low-level hardware</vt:lpstr>
      <vt:lpstr>The RISC-V ISA</vt:lpstr>
      <vt:lpstr>RV32I – a 32-bit integer ISA</vt:lpstr>
      <vt:lpstr>RV32I instructions (overview)</vt:lpstr>
      <vt:lpstr>RISC-V arithmetic instructions</vt:lpstr>
      <vt:lpstr>Design principle: simplicity favors regularity</vt:lpstr>
      <vt:lpstr>Design principle: smaller is faster</vt:lpstr>
      <vt:lpstr>Immediate instructions – one operand is provided in instruction</vt:lpstr>
      <vt:lpstr>Referring to memory addresses</vt:lpstr>
      <vt:lpstr>Referring to memory addresses – general modes</vt:lpstr>
      <vt:lpstr>Control flow</vt:lpstr>
      <vt:lpstr>PC-relative control flow simplifies architecture</vt:lpstr>
      <vt:lpstr>Overview of RV32I instructions</vt:lpstr>
      <vt:lpstr>Example snippets</vt:lpstr>
      <vt:lpstr>Example snippets</vt:lpstr>
      <vt:lpstr>Example snippets</vt:lpstr>
      <vt:lpstr>Instructions as seen by hardware</vt:lpstr>
      <vt:lpstr>The 6 basic RV32I instruction formats – R, I, S, B, U, J</vt:lpstr>
      <vt:lpstr>General structure of instructions</vt:lpstr>
      <vt:lpstr>R-format instructions</vt:lpstr>
      <vt:lpstr>I-format instructions</vt:lpstr>
      <vt:lpstr>Notice any quirks?</vt:lpstr>
      <vt:lpstr>S-format instructions</vt:lpstr>
      <vt:lpstr>Full picture</vt:lpstr>
      <vt:lpstr>PowerPoint Presentation</vt:lpstr>
      <vt:lpstr>The RV32I Register File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636</cp:revision>
  <dcterms:created xsi:type="dcterms:W3CDTF">2010-01-15T20:22:21Z</dcterms:created>
  <dcterms:modified xsi:type="dcterms:W3CDTF">2026-01-16T09:20:22Z</dcterms:modified>
</cp:coreProperties>
</file>