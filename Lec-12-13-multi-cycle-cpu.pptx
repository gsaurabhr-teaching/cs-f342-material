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3"/>
  </p:notesMasterIdLst>
  <p:sldIdLst>
    <p:sldId id="337" r:id="rId2"/>
    <p:sldId id="415" r:id="rId3"/>
    <p:sldId id="416" r:id="rId4"/>
    <p:sldId id="426" r:id="rId5"/>
    <p:sldId id="420" r:id="rId6"/>
    <p:sldId id="421" r:id="rId7"/>
    <p:sldId id="422" r:id="rId8"/>
    <p:sldId id="423" r:id="rId9"/>
    <p:sldId id="427" r:id="rId10"/>
    <p:sldId id="428" r:id="rId11"/>
    <p:sldId id="429" r:id="rId12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3F26"/>
    <a:srgbClr val="FCD5B5"/>
    <a:srgbClr val="8EB4E3"/>
    <a:srgbClr val="D7E4BD"/>
    <a:srgbClr val="72C3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88284" autoAdjust="0"/>
  </p:normalViewPr>
  <p:slideViewPr>
    <p:cSldViewPr>
      <p:cViewPr varScale="1">
        <p:scale>
          <a:sx n="80" d="100"/>
          <a:sy n="80" d="100"/>
        </p:scale>
        <p:origin x="912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72C3E8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72C3E8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Computer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34B59-D035-4EB2-A4B2-A4AFC134E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shortcomings of a single cycle CPU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8744D-0B81-4691-8CE1-96C46C360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spcBef>
                <a:spcPts val="800"/>
              </a:spcBef>
            </a:pPr>
            <a:r>
              <a:rPr lang="en-US" dirty="0"/>
              <a:t>Simple instructions wait unnecessarily to accommodate loner instructions</a:t>
            </a:r>
          </a:p>
          <a:p>
            <a:pPr>
              <a:spcBef>
                <a:spcPts val="800"/>
              </a:spcBef>
            </a:pPr>
            <a:r>
              <a:rPr lang="en-US" dirty="0"/>
              <a:t>Hardware is underutilized</a:t>
            </a:r>
          </a:p>
          <a:p>
            <a:pPr>
              <a:spcBef>
                <a:spcPts val="800"/>
              </a:spcBef>
            </a:pPr>
            <a:r>
              <a:rPr lang="en-US" dirty="0"/>
              <a:t>Energy inefficient</a:t>
            </a:r>
          </a:p>
          <a:p>
            <a:pPr lvl="1">
              <a:spcBef>
                <a:spcPts val="800"/>
              </a:spcBef>
            </a:pPr>
            <a:r>
              <a:rPr lang="en-US" dirty="0"/>
              <a:t>Why?</a:t>
            </a:r>
          </a:p>
          <a:p>
            <a:pPr lvl="1">
              <a:spcBef>
                <a:spcPts val="800"/>
              </a:spcBef>
            </a:pPr>
            <a:r>
              <a:rPr lang="en-US" dirty="0"/>
              <a:t>Unnecessary switching, charging and discharging of long, monolithic </a:t>
            </a:r>
            <a:r>
              <a:rPr lang="en-US" dirty="0" err="1"/>
              <a:t>datapath</a:t>
            </a:r>
            <a:endParaRPr lang="en-US" dirty="0"/>
          </a:p>
          <a:p>
            <a:pPr lvl="1">
              <a:spcBef>
                <a:spcPts val="800"/>
              </a:spcBef>
            </a:pPr>
            <a:r>
              <a:rPr lang="en-US" dirty="0"/>
              <a:t>Long combinational paths increase capacitance</a:t>
            </a:r>
          </a:p>
          <a:p>
            <a:pPr lvl="1">
              <a:spcBef>
                <a:spcPts val="800"/>
              </a:spcBef>
            </a:pPr>
            <a:r>
              <a:rPr lang="en-US" dirty="0"/>
              <a:t>Voltage cannot be reduced much because paths are long and timing is tight</a:t>
            </a:r>
          </a:p>
          <a:p>
            <a:pPr>
              <a:spcBef>
                <a:spcPts val="800"/>
              </a:spcBef>
            </a:pPr>
            <a:r>
              <a:rPr lang="en-US" dirty="0"/>
              <a:t>Limited clock frequency</a:t>
            </a:r>
          </a:p>
          <a:p>
            <a:pPr lvl="1">
              <a:spcBef>
                <a:spcPts val="800"/>
              </a:spcBef>
            </a:pPr>
            <a:r>
              <a:rPr lang="en-US" dirty="0"/>
              <a:t>Memory access is very </a:t>
            </a:r>
            <a:r>
              <a:rPr lang="en-US" dirty="0" err="1"/>
              <a:t>very</a:t>
            </a:r>
            <a:r>
              <a:rPr lang="en-US" dirty="0"/>
              <a:t> slow in practice</a:t>
            </a:r>
          </a:p>
          <a:p>
            <a:pPr lvl="1">
              <a:spcBef>
                <a:spcPts val="800"/>
              </a:spcBef>
            </a:pPr>
            <a:r>
              <a:rPr lang="en-US" dirty="0"/>
              <a:t>Wire delays dominate in long </a:t>
            </a:r>
            <a:r>
              <a:rPr lang="en-US" dirty="0" err="1"/>
              <a:t>datapaths</a:t>
            </a:r>
            <a:r>
              <a:rPr lang="en-US" dirty="0"/>
              <a:t> in the GHz range</a:t>
            </a:r>
          </a:p>
          <a:p>
            <a:pPr lvl="1">
              <a:spcBef>
                <a:spcPts val="800"/>
              </a:spcBef>
            </a:pPr>
            <a:r>
              <a:rPr lang="en-US" dirty="0"/>
              <a:t>Clock skew becomes dominant at high frequencies and long paths</a:t>
            </a:r>
          </a:p>
          <a:p>
            <a:pPr lvl="1">
              <a:spcBef>
                <a:spcPts val="800"/>
              </a:spcBef>
            </a:pPr>
            <a:r>
              <a:rPr lang="en-US" dirty="0"/>
              <a:t>Voltage has to increase with frequency </a:t>
            </a:r>
            <a:r>
              <a:rPr lang="en-US" dirty="0">
                <a:sym typeface="Wingdings" panose="05000000000000000000" pitchFamily="2" charset="2"/>
              </a:rPr>
              <a:t> high power dissipation  heating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656DB6-794F-4BB5-8862-1CE2DE7DE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7F242B-85AD-4BB1-AC32-29FD34712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62054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DDF72-504B-4727-A513-D8A2978F7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 monolithic </a:t>
            </a:r>
            <a:r>
              <a:rPr lang="en-US" dirty="0" err="1"/>
              <a:t>datapath</a:t>
            </a:r>
            <a:r>
              <a:rPr lang="en-US" dirty="0"/>
              <a:t> – the root problem with single cycle CPU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D4CE9-E294-4A8A-9A7D-76E416699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D92D81-D65E-4A5A-9C54-593CC37CC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29DB889-B0F3-4DE6-8198-EAB2C5A4FE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7772400" cy="22860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to break the </a:t>
            </a:r>
            <a:r>
              <a:rPr lang="en-US" dirty="0" err="1"/>
              <a:t>datapath</a:t>
            </a:r>
            <a:r>
              <a:rPr lang="en-US" dirty="0"/>
              <a:t>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Where to break the </a:t>
            </a:r>
            <a:r>
              <a:rPr lang="en-US" dirty="0" err="1"/>
              <a:t>datapath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427691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9AEC9-D194-6E8C-0FC0-DB77AA985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single cycle RV32l </a:t>
            </a:r>
            <a:r>
              <a:rPr lang="en-US" dirty="0" err="1"/>
              <a:t>datapath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2DB7D-5F11-0A81-2D85-999C3BB43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11 February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20B5FA-5713-2D45-0D98-57A2E10BA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0D58C48-1849-9A07-AFF4-34F4AC13FF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65" y="1369814"/>
            <a:ext cx="8108269" cy="51089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7573F7-ABF2-4BD1-BB0D-8DA0298DC5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075" y="4876800"/>
            <a:ext cx="8686800" cy="152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062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11587-506A-48A8-8E21-2D7C1F391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break the </a:t>
            </a:r>
            <a:r>
              <a:rPr lang="en-US" dirty="0" err="1"/>
              <a:t>datapath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28543-88B0-4C01-9350-88CC94619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Break such that one part performs some operation in once cycle</a:t>
            </a:r>
          </a:p>
          <a:p>
            <a:r>
              <a:rPr lang="en-US" dirty="0"/>
              <a:t>Next part should use o/p of first part as input to the next operation</a:t>
            </a:r>
          </a:p>
          <a:p>
            <a:r>
              <a:rPr lang="en-US" dirty="0"/>
              <a:t>Must store output in intermediate register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47069-15EA-4144-92F3-0997A0849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51E67-037F-41ED-8B83-FFF6FA60F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168A56-0CED-4CEE-99C8-6A9039B92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75" y="4876800"/>
            <a:ext cx="8686800" cy="152991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1362FA2-0AE0-4B97-974F-2A35B2DD4D3F}"/>
              </a:ext>
            </a:extLst>
          </p:cNvPr>
          <p:cNvSpPr/>
          <p:nvPr/>
        </p:nvSpPr>
        <p:spPr>
          <a:xfrm>
            <a:off x="5267325" y="4566086"/>
            <a:ext cx="457200" cy="213951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ALU OUT</a:t>
            </a:r>
          </a:p>
        </p:txBody>
      </p:sp>
    </p:spTree>
    <p:extLst>
      <p:ext uri="{BB962C8B-B14F-4D97-AF65-F5344CB8AC3E}">
        <p14:creationId xmlns:p14="http://schemas.microsoft.com/office/powerpoint/2010/main" val="3737808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E374D-0F22-4A20-8488-EE27A0BD7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781800" cy="1195386"/>
          </a:xfrm>
        </p:spPr>
        <p:txBody>
          <a:bodyPr/>
          <a:lstStyle/>
          <a:p>
            <a:r>
              <a:rPr lang="en-US" dirty="0"/>
              <a:t>Where to break the </a:t>
            </a:r>
            <a:r>
              <a:rPr lang="en-US" dirty="0" err="1"/>
              <a:t>datapath</a:t>
            </a:r>
            <a:r>
              <a:rPr lang="en-US" dirty="0"/>
              <a:t>?</a:t>
            </a:r>
            <a:br>
              <a:rPr lang="en-US" dirty="0"/>
            </a:br>
            <a:r>
              <a:rPr lang="en-US" dirty="0"/>
              <a:t>Avoid unnecessary computations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1F8B3-E2CC-443D-8760-5D40188AC6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What components are optional i.e. instruction-dependent?</a:t>
            </a:r>
          </a:p>
          <a:p>
            <a:r>
              <a:rPr lang="en-US" dirty="0"/>
              <a:t>Clearly, they should be put into separate stages that may or may not execute based on need</a:t>
            </a:r>
          </a:p>
          <a:p>
            <a:r>
              <a:rPr lang="en-US" dirty="0"/>
              <a:t>Is that sufficient?... Any other consideration?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2A451-B8B7-4446-93E0-831E6665A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2F8EC1-730E-42C0-8AF7-136676E84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2C05DD-DB91-4A3A-8AA9-0B487C1F29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75" y="4876800"/>
            <a:ext cx="8686800" cy="152991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C67AA58-981E-404E-980A-F42875FE140D}"/>
              </a:ext>
            </a:extLst>
          </p:cNvPr>
          <p:cNvSpPr/>
          <p:nvPr/>
        </p:nvSpPr>
        <p:spPr>
          <a:xfrm>
            <a:off x="5267325" y="4566086"/>
            <a:ext cx="457200" cy="213951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ALU OUT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7FACC0A-10BC-46C9-AC2C-B7C5ADD7C47B}"/>
              </a:ext>
            </a:extLst>
          </p:cNvPr>
          <p:cNvSpPr/>
          <p:nvPr/>
        </p:nvSpPr>
        <p:spPr>
          <a:xfrm>
            <a:off x="7129462" y="4566086"/>
            <a:ext cx="457200" cy="213951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MDR</a:t>
            </a:r>
          </a:p>
        </p:txBody>
      </p:sp>
    </p:spTree>
    <p:extLst>
      <p:ext uri="{BB962C8B-B14F-4D97-AF65-F5344CB8AC3E}">
        <p14:creationId xmlns:p14="http://schemas.microsoft.com/office/powerpoint/2010/main" val="3458783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969ED-8C64-4B17-AC7F-B6FC050AE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break the </a:t>
            </a:r>
            <a:r>
              <a:rPr lang="en-US" dirty="0" err="1"/>
              <a:t>datapath</a:t>
            </a:r>
            <a:br>
              <a:rPr lang="en-US" dirty="0"/>
            </a:br>
            <a:r>
              <a:rPr lang="en-US" dirty="0"/>
              <a:t>Reuse </a:t>
            </a:r>
            <a:r>
              <a:rPr lang="en-US" dirty="0" err="1"/>
              <a:t>datapath</a:t>
            </a:r>
            <a:r>
              <a:rPr lang="en-US" dirty="0"/>
              <a:t>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27F43-05F4-4714-8351-344024CE22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410200" cy="3238065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solidFill>
                  <a:srgbClr val="FF0000"/>
                </a:solidFill>
              </a:rPr>
              <a:t>What parts can be reused for avoiding hardware duplication?</a:t>
            </a:r>
          </a:p>
          <a:p>
            <a:r>
              <a:rPr lang="en-US" dirty="0"/>
              <a:t>ALU can be reused for:</a:t>
            </a:r>
          </a:p>
          <a:p>
            <a:pPr lvl="1"/>
            <a:r>
              <a:rPr lang="en-US" dirty="0"/>
              <a:t>PC </a:t>
            </a:r>
            <a:r>
              <a:rPr lang="en-US" dirty="0">
                <a:sym typeface="Wingdings" panose="05000000000000000000" pitchFamily="2" charset="2"/>
              </a:rPr>
              <a:t> PC + 4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Comparison (branch comparator)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Original ALU computations</a:t>
            </a:r>
          </a:p>
          <a:p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Will our current breaks be sufficient for ALU reuse?</a:t>
            </a:r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What about MEM reuse?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E56803-B017-4366-B967-A86A23773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E5A2D6-B8A7-47F1-85D8-233542DA9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ACAE89-B4A4-4BC3-B1F2-AA9D0BC7A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75" y="4876800"/>
            <a:ext cx="8686800" cy="152991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18649E1-4A92-4BDE-830F-0B54B11E7CCB}"/>
              </a:ext>
            </a:extLst>
          </p:cNvPr>
          <p:cNvSpPr/>
          <p:nvPr/>
        </p:nvSpPr>
        <p:spPr>
          <a:xfrm>
            <a:off x="5267325" y="4566086"/>
            <a:ext cx="457200" cy="213951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ALU OUT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F5E092-A317-4C90-B56D-D63A8C9AC992}"/>
              </a:ext>
            </a:extLst>
          </p:cNvPr>
          <p:cNvSpPr/>
          <p:nvPr/>
        </p:nvSpPr>
        <p:spPr>
          <a:xfrm>
            <a:off x="7129462" y="4566086"/>
            <a:ext cx="457200" cy="213951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MDR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E24D130-EEE1-406C-A08F-14289B09FEBD}"/>
              </a:ext>
            </a:extLst>
          </p:cNvPr>
          <p:cNvSpPr txBox="1">
            <a:spLocks/>
          </p:cNvSpPr>
          <p:nvPr/>
        </p:nvSpPr>
        <p:spPr bwMode="auto">
          <a:xfrm>
            <a:off x="5724524" y="1446211"/>
            <a:ext cx="3267075" cy="26685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Cycle 1: IF </a:t>
            </a:r>
            <a:r>
              <a:rPr lang="en-US" sz="2400" dirty="0">
                <a:sym typeface="Wingdings" panose="05000000000000000000" pitchFamily="2" charset="2"/>
              </a:rPr>
              <a:t> OF  EX (ALU used!)</a:t>
            </a:r>
          </a:p>
          <a:p>
            <a:r>
              <a:rPr lang="en-US" sz="2400" dirty="0">
                <a:sym typeface="Wingdings" panose="05000000000000000000" pitchFamily="2" charset="2"/>
              </a:rPr>
              <a:t>Cycle 2: PC  PC + 4 (ALU reused!)</a:t>
            </a:r>
          </a:p>
          <a:p>
            <a:r>
              <a:rPr lang="en-US" sz="2400" dirty="0">
                <a:sym typeface="Wingdings" panose="05000000000000000000" pitchFamily="2" charset="2"/>
              </a:rPr>
              <a:t>What about branch comparison reuse?</a:t>
            </a:r>
            <a:endParaRPr lang="en-US" sz="24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F11EBC-D711-4F4E-BDA5-C23861048E04}"/>
              </a:ext>
            </a:extLst>
          </p:cNvPr>
          <p:cNvSpPr/>
          <p:nvPr/>
        </p:nvSpPr>
        <p:spPr>
          <a:xfrm>
            <a:off x="1557338" y="4566086"/>
            <a:ext cx="457200" cy="213951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IR</a:t>
            </a:r>
          </a:p>
        </p:txBody>
      </p:sp>
    </p:spTree>
    <p:extLst>
      <p:ext uri="{BB962C8B-B14F-4D97-AF65-F5344CB8AC3E}">
        <p14:creationId xmlns:p14="http://schemas.microsoft.com/office/powerpoint/2010/main" val="95724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2" grpId="0" uiExpand="1" build="p"/>
      <p:bldP spid="1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CB2A6-F625-4952-B3FD-787C0FDD9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break the </a:t>
            </a:r>
            <a:r>
              <a:rPr lang="en-US" dirty="0" err="1"/>
              <a:t>datapath</a:t>
            </a:r>
            <a:r>
              <a:rPr lang="en-US" dirty="0"/>
              <a:t>?</a:t>
            </a:r>
            <a:br>
              <a:rPr lang="en-US" dirty="0"/>
            </a:br>
            <a:r>
              <a:rPr lang="en-US" dirty="0"/>
              <a:t>Optimize critical path length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E660B6-3DB1-4D6F-BBBD-3C3FCA20C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2971800" cy="3430589"/>
          </a:xfrm>
        </p:spPr>
        <p:txBody>
          <a:bodyPr>
            <a:normAutofit fontScale="92500"/>
          </a:bodyPr>
          <a:lstStyle/>
          <a:p>
            <a:r>
              <a:rPr lang="en-US" dirty="0">
                <a:solidFill>
                  <a:srgbClr val="FF0000"/>
                </a:solidFill>
              </a:rPr>
              <a:t>How long does each stage currently take?</a:t>
            </a:r>
          </a:p>
          <a:p>
            <a:r>
              <a:rPr lang="en-US" dirty="0"/>
              <a:t>Where to break for better time management?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3AEBA-89D5-4FDD-ABCC-FDA41A731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EFFE7E-7205-46F2-91C3-2E514833A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D787A4-5F2E-4881-98D3-41A40837AE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75" y="4876800"/>
            <a:ext cx="8686800" cy="152991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7F2776C-38DE-483B-80D4-D260E06E4B4F}"/>
              </a:ext>
            </a:extLst>
          </p:cNvPr>
          <p:cNvSpPr/>
          <p:nvPr/>
        </p:nvSpPr>
        <p:spPr>
          <a:xfrm>
            <a:off x="5267325" y="4566086"/>
            <a:ext cx="457200" cy="213951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ALU OUT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4DD7C6-BEC3-4708-9E6F-0D2457537CCC}"/>
              </a:ext>
            </a:extLst>
          </p:cNvPr>
          <p:cNvSpPr/>
          <p:nvPr/>
        </p:nvSpPr>
        <p:spPr>
          <a:xfrm>
            <a:off x="7129462" y="4566086"/>
            <a:ext cx="457200" cy="213951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MDR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D05BB33-630F-45C1-BC5E-E85DCA7D6E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4200" y="1211261"/>
            <a:ext cx="5941371" cy="3741739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CAFC976A-542A-4CBE-9B64-15FC469350A8}"/>
              </a:ext>
            </a:extLst>
          </p:cNvPr>
          <p:cNvSpPr/>
          <p:nvPr/>
        </p:nvSpPr>
        <p:spPr>
          <a:xfrm>
            <a:off x="1557338" y="4566086"/>
            <a:ext cx="457200" cy="213951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IR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922A355-1B17-4B4F-91C2-1D5C2E0850B0}"/>
              </a:ext>
            </a:extLst>
          </p:cNvPr>
          <p:cNvGrpSpPr/>
          <p:nvPr/>
        </p:nvGrpSpPr>
        <p:grpSpPr>
          <a:xfrm>
            <a:off x="3405188" y="4566087"/>
            <a:ext cx="466725" cy="2162532"/>
            <a:chOff x="3405188" y="4566087"/>
            <a:chExt cx="466725" cy="2162532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2A99E3B-C600-4947-8F20-B4BFC5DDFA3C}"/>
                </a:ext>
              </a:extLst>
            </p:cNvPr>
            <p:cNvSpPr/>
            <p:nvPr/>
          </p:nvSpPr>
          <p:spPr>
            <a:xfrm>
              <a:off x="3405188" y="4566087"/>
              <a:ext cx="457200" cy="101362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A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2D4C4D1-024F-40D6-BCEE-B1E788EE56EB}"/>
                </a:ext>
              </a:extLst>
            </p:cNvPr>
            <p:cNvSpPr/>
            <p:nvPr/>
          </p:nvSpPr>
          <p:spPr>
            <a:xfrm>
              <a:off x="3414713" y="5715000"/>
              <a:ext cx="457200" cy="1013619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134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65984-B7DF-47B6-859E-CE76C2A81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break the </a:t>
            </a:r>
            <a:r>
              <a:rPr lang="en-US" dirty="0" err="1"/>
              <a:t>datapath</a:t>
            </a:r>
            <a:r>
              <a:rPr lang="en-US" dirty="0"/>
              <a:t>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239FC5-8042-495F-AAA2-C115034EE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338367-D7D2-43FF-9B19-4D6ED8817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ABF729B-B201-4512-AD94-011EAEC7D3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400" y="1488441"/>
            <a:ext cx="8839200" cy="493045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3BE1164-D8E5-47F5-A68D-49C81A2DAA7D}"/>
              </a:ext>
            </a:extLst>
          </p:cNvPr>
          <p:cNvSpPr/>
          <p:nvPr/>
        </p:nvSpPr>
        <p:spPr>
          <a:xfrm>
            <a:off x="2819400" y="4038600"/>
            <a:ext cx="1371600" cy="1219200"/>
          </a:xfrm>
          <a:prstGeom prst="rect">
            <a:avLst/>
          </a:prstGeom>
          <a:noFill/>
          <a:ln w="38100">
            <a:solidFill>
              <a:srgbClr val="EA3F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528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59D9A-38DB-4BE0-A58C-6DC86E956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 err="1"/>
              <a:t>lw</a:t>
            </a:r>
            <a:r>
              <a:rPr lang="en-US" dirty="0"/>
              <a:t>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983320-71FD-46FA-862E-374F2D6EF9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IF</a:t>
            </a:r>
          </a:p>
          <a:p>
            <a:pPr lvl="1"/>
            <a:r>
              <a:rPr lang="en-US" dirty="0"/>
              <a:t>IR </a:t>
            </a:r>
            <a:r>
              <a:rPr lang="en-US" dirty="0">
                <a:sym typeface="Wingdings" panose="05000000000000000000" pitchFamily="2" charset="2"/>
              </a:rPr>
              <a:t> Mem[PC]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PC  PC + 4</a:t>
            </a:r>
          </a:p>
          <a:p>
            <a:r>
              <a:rPr lang="en-US" dirty="0">
                <a:sym typeface="Wingdings" panose="05000000000000000000" pitchFamily="2" charset="2"/>
              </a:rPr>
              <a:t>ID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  </a:t>
            </a:r>
            <a:r>
              <a:rPr lang="en-US" dirty="0" err="1">
                <a:sym typeface="Wingdings" panose="05000000000000000000" pitchFamily="2" charset="2"/>
              </a:rPr>
              <a:t>RegFile</a:t>
            </a:r>
            <a:r>
              <a:rPr lang="en-US" dirty="0">
                <a:sym typeface="Wingdings" panose="05000000000000000000" pitchFamily="2" charset="2"/>
              </a:rPr>
              <a:t>[rs1]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B  </a:t>
            </a:r>
            <a:r>
              <a:rPr lang="en-US" dirty="0" err="1">
                <a:sym typeface="Wingdings" panose="05000000000000000000" pitchFamily="2" charset="2"/>
              </a:rPr>
              <a:t>RegFile</a:t>
            </a:r>
            <a:r>
              <a:rPr lang="en-US" dirty="0">
                <a:sym typeface="Wingdings" panose="05000000000000000000" pitchFamily="2" charset="2"/>
              </a:rPr>
              <a:t>[rs2]</a:t>
            </a:r>
          </a:p>
          <a:p>
            <a:r>
              <a:rPr lang="en-US" dirty="0">
                <a:sym typeface="Wingdings" panose="05000000000000000000" pitchFamily="2" charset="2"/>
              </a:rPr>
              <a:t>EX</a:t>
            </a:r>
          </a:p>
          <a:p>
            <a:pPr lvl="1"/>
            <a:r>
              <a:rPr lang="en-US" dirty="0" err="1">
                <a:sym typeface="Wingdings" panose="05000000000000000000" pitchFamily="2" charset="2"/>
              </a:rPr>
              <a:t>ALUOut</a:t>
            </a:r>
            <a:r>
              <a:rPr lang="en-US" dirty="0">
                <a:sym typeface="Wingdings" panose="05000000000000000000" pitchFamily="2" charset="2"/>
              </a:rPr>
              <a:t>  A + </a:t>
            </a:r>
            <a:r>
              <a:rPr lang="en-US" dirty="0" err="1">
                <a:sym typeface="Wingdings" panose="05000000000000000000" pitchFamily="2" charset="2"/>
              </a:rPr>
              <a:t>Imm</a:t>
            </a:r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MEM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MDR  Mem[</a:t>
            </a:r>
            <a:r>
              <a:rPr lang="en-US" dirty="0" err="1">
                <a:sym typeface="Wingdings" panose="05000000000000000000" pitchFamily="2" charset="2"/>
              </a:rPr>
              <a:t>ALUOut</a:t>
            </a:r>
            <a:r>
              <a:rPr lang="en-US" dirty="0">
                <a:sym typeface="Wingdings" panose="05000000000000000000" pitchFamily="2" charset="2"/>
              </a:rPr>
              <a:t>]</a:t>
            </a:r>
          </a:p>
          <a:p>
            <a:r>
              <a:rPr lang="en-US" dirty="0">
                <a:sym typeface="Wingdings" panose="05000000000000000000" pitchFamily="2" charset="2"/>
              </a:rPr>
              <a:t>WB</a:t>
            </a:r>
          </a:p>
          <a:p>
            <a:pPr lvl="1"/>
            <a:r>
              <a:rPr lang="en-US" dirty="0" err="1">
                <a:sym typeface="Wingdings" panose="05000000000000000000" pitchFamily="2" charset="2"/>
              </a:rPr>
              <a:t>RegFile</a:t>
            </a:r>
            <a:r>
              <a:rPr lang="en-US" dirty="0">
                <a:sym typeface="Wingdings" panose="05000000000000000000" pitchFamily="2" charset="2"/>
              </a:rPr>
              <a:t>[</a:t>
            </a:r>
            <a:r>
              <a:rPr lang="en-US" dirty="0" err="1">
                <a:sym typeface="Wingdings" panose="05000000000000000000" pitchFamily="2" charset="2"/>
              </a:rPr>
              <a:t>rd</a:t>
            </a:r>
            <a:r>
              <a:rPr lang="en-US" dirty="0">
                <a:sym typeface="Wingdings" panose="05000000000000000000" pitchFamily="2" charset="2"/>
              </a:rPr>
              <a:t>]  MDR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EFD54-90F3-470A-926F-25D41DA15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9C3318-E3CD-42D9-B3F3-210E8E2F2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BAEF9C3-BA02-4A9A-8EF8-EA133E377D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3124200" y="838200"/>
            <a:ext cx="6019800" cy="3357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64A8E29-673A-4CC7-BCF7-D91840CC5F1E}"/>
              </a:ext>
            </a:extLst>
          </p:cNvPr>
          <p:cNvSpPr txBox="1">
            <a:spLocks/>
          </p:cNvSpPr>
          <p:nvPr/>
        </p:nvSpPr>
        <p:spPr bwMode="auto">
          <a:xfrm>
            <a:off x="4581525" y="5112543"/>
            <a:ext cx="4495800" cy="13485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solidFill>
                  <a:srgbClr val="FF0000"/>
                </a:solidFill>
              </a:rPr>
              <a:t>How many cycles for R-type?</a:t>
            </a:r>
          </a:p>
          <a:p>
            <a:r>
              <a:rPr lang="en-US" sz="2400" dirty="0">
                <a:solidFill>
                  <a:srgbClr val="FF0000"/>
                </a:solidFill>
              </a:rPr>
              <a:t>How many for branch?</a:t>
            </a:r>
          </a:p>
        </p:txBody>
      </p:sp>
    </p:spTree>
    <p:extLst>
      <p:ext uri="{BB962C8B-B14F-4D97-AF65-F5344CB8AC3E}">
        <p14:creationId xmlns:p14="http://schemas.microsoft.com/office/powerpoint/2010/main" val="3251361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D54A4-1AC6-4EBE-9262-5E5B05B56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becomes sequential </a:t>
            </a:r>
            <a:r>
              <a:rPr lang="en-US" dirty="0">
                <a:sym typeface="Wingdings" panose="05000000000000000000" pitchFamily="2" charset="2"/>
              </a:rPr>
              <a:t> FSM based control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84C03-C816-406F-A23B-452AD55F4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0D72BF-C6E3-41D9-A8CE-E605E4AFD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47483D-67A9-4B2F-8419-F9CF5E5E4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25975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13999</TotalTime>
  <Words>436</Words>
  <Application>Microsoft Office PowerPoint</Application>
  <PresentationFormat>On-screen Show (4:3)</PresentationFormat>
  <Paragraphs>91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Computer Architecture</vt:lpstr>
      <vt:lpstr>The shortcomings of a single cycle CPU</vt:lpstr>
      <vt:lpstr>Long monolithic datapath – the root problem with single cycle CPU</vt:lpstr>
      <vt:lpstr>The single cycle RV32l datapath</vt:lpstr>
      <vt:lpstr>How to break the datapath?</vt:lpstr>
      <vt:lpstr>Where to break the datapath? Avoid unnecessary computations</vt:lpstr>
      <vt:lpstr>Where to break the datapath Reuse datapath components</vt:lpstr>
      <vt:lpstr>Where to break the datapath? Optimize critical path length</vt:lpstr>
      <vt:lpstr>Where to break the datapath?</vt:lpstr>
      <vt:lpstr>Example: lw execution</vt:lpstr>
      <vt:lpstr>Control becomes sequential  FSM based control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701</cp:revision>
  <dcterms:created xsi:type="dcterms:W3CDTF">2010-01-15T20:22:21Z</dcterms:created>
  <dcterms:modified xsi:type="dcterms:W3CDTF">2026-02-11T09:24:08Z</dcterms:modified>
</cp:coreProperties>
</file>