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37" r:id="rId2"/>
    <p:sldId id="415" r:id="rId3"/>
    <p:sldId id="416" r:id="rId4"/>
    <p:sldId id="426" r:id="rId5"/>
    <p:sldId id="420" r:id="rId6"/>
    <p:sldId id="421" r:id="rId7"/>
    <p:sldId id="422" r:id="rId8"/>
    <p:sldId id="423" r:id="rId9"/>
    <p:sldId id="427" r:id="rId10"/>
    <p:sldId id="428" r:id="rId11"/>
    <p:sldId id="430" r:id="rId12"/>
    <p:sldId id="431" r:id="rId13"/>
    <p:sldId id="429" r:id="rId14"/>
    <p:sldId id="432" r:id="rId15"/>
    <p:sldId id="433" r:id="rId16"/>
    <p:sldId id="434" r:id="rId17"/>
    <p:sldId id="435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88284" autoAdjust="0"/>
  </p:normalViewPr>
  <p:slideViewPr>
    <p:cSldViewPr>
      <p:cViewPr varScale="1">
        <p:scale>
          <a:sx n="80" d="100"/>
          <a:sy n="80" d="100"/>
        </p:scale>
        <p:origin x="9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2/13/2026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4B59-D035-4EB2-A4B2-A4AFC134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shortcomings of a single cycle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744D-0B81-4691-8CE1-96C46C360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800"/>
              </a:spcBef>
            </a:pPr>
            <a:r>
              <a:rPr lang="en-US" dirty="0"/>
              <a:t>Simple instructions wait unnecessarily to accommodate loner instructions</a:t>
            </a:r>
          </a:p>
          <a:p>
            <a:pPr>
              <a:spcBef>
                <a:spcPts val="800"/>
              </a:spcBef>
            </a:pPr>
            <a:r>
              <a:rPr lang="en-US" dirty="0"/>
              <a:t>Hardware is underutilized</a:t>
            </a:r>
          </a:p>
          <a:p>
            <a:pPr>
              <a:spcBef>
                <a:spcPts val="800"/>
              </a:spcBef>
            </a:pPr>
            <a:r>
              <a:rPr lang="en-US" dirty="0"/>
              <a:t>Energy inefficient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Why?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Unnecessary switching, charging and discharging of long, monolithic </a:t>
            </a:r>
            <a:r>
              <a:rPr lang="en-US" dirty="0" err="1"/>
              <a:t>datapath</a:t>
            </a:r>
            <a:endParaRPr lang="en-US" dirty="0"/>
          </a:p>
          <a:p>
            <a:pPr lvl="1">
              <a:spcBef>
                <a:spcPts val="800"/>
              </a:spcBef>
            </a:pPr>
            <a:r>
              <a:rPr lang="en-US" dirty="0"/>
              <a:t>Long combinational paths increase capacitance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Voltage cannot be reduced much because paths are long and timing is tight</a:t>
            </a:r>
          </a:p>
          <a:p>
            <a:pPr>
              <a:spcBef>
                <a:spcPts val="800"/>
              </a:spcBef>
            </a:pPr>
            <a:r>
              <a:rPr lang="en-US" dirty="0"/>
              <a:t>Limited clock frequency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Memory access is very </a:t>
            </a:r>
            <a:r>
              <a:rPr lang="en-US" dirty="0" err="1"/>
              <a:t>very</a:t>
            </a:r>
            <a:r>
              <a:rPr lang="en-US" dirty="0"/>
              <a:t> slow in practice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Wire delays dominate in long </a:t>
            </a:r>
            <a:r>
              <a:rPr lang="en-US" dirty="0" err="1"/>
              <a:t>datapaths</a:t>
            </a:r>
            <a:r>
              <a:rPr lang="en-US" dirty="0"/>
              <a:t> in the GHz range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Clock skew becomes dominant at high frequencies and long paths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Voltage has to increase with frequency </a:t>
            </a:r>
            <a:r>
              <a:rPr lang="en-US" dirty="0">
                <a:sym typeface="Wingdings" panose="05000000000000000000" pitchFamily="2" charset="2"/>
              </a:rPr>
              <a:t> high power dissipation  heating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56DB6-794F-4BB5-8862-1CE2DE7D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F242B-85AD-4BB1-AC32-29FD3471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05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DF72-504B-4727-A513-D8A2978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monolithic </a:t>
            </a:r>
            <a:r>
              <a:rPr lang="en-US" dirty="0" err="1"/>
              <a:t>datapath</a:t>
            </a:r>
            <a:r>
              <a:rPr lang="en-US" dirty="0"/>
              <a:t> – the root problem with single cycle CPU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D4CE9-E294-4A8A-9A7D-76E41669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92D81-D65E-4A5A-9C54-593CC37C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9DB889-B0F3-4DE6-8198-EAB2C5A4FE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77724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769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AEC9-D194-6E8C-0FC0-DB77AA98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single cycle RV32l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DB7D-5F11-0A81-2D85-999C3BB4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B5FA-5713-2D45-0D98-57A2E10B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58C48-1849-9A07-AFF4-34F4AC13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5" y="1369814"/>
            <a:ext cx="8108269" cy="5108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573F7-ABF2-4BD1-BB0D-8DA0298DC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6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1587-506A-48A8-8E21-2D7C1F3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8543-88B0-4C01-9350-88CC9461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such that one part performs some operation in once cycle</a:t>
            </a:r>
          </a:p>
          <a:p>
            <a:r>
              <a:rPr lang="en-US" dirty="0"/>
              <a:t>Next part should use o/p of first part as input to the next operation</a:t>
            </a:r>
          </a:p>
          <a:p>
            <a:r>
              <a:rPr lang="en-US" dirty="0"/>
              <a:t>Must store output in intermediate register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7069-15EA-4144-92F3-0997A084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51E67-037F-41ED-8B83-FFF6FA60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68A56-0CED-4CEE-99C8-6A9039B9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362FA2-0AE0-4B97-974F-2A35B2DD4D3F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</p:spTree>
    <p:extLst>
      <p:ext uri="{BB962C8B-B14F-4D97-AF65-F5344CB8AC3E}">
        <p14:creationId xmlns:p14="http://schemas.microsoft.com/office/powerpoint/2010/main" val="373780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374D-0F22-4A20-8488-EE27A0BD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781800" cy="1195386"/>
          </a:xfrm>
        </p:spPr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Avoid unnecessary computations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F8B3-E2CC-443D-8760-5D40188AC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components are optional i.e. instruction-dependent?</a:t>
            </a:r>
          </a:p>
          <a:p>
            <a:r>
              <a:rPr lang="en-US" dirty="0"/>
              <a:t>Clearly, they should be put into separate stages that may or may not execute based on need</a:t>
            </a:r>
          </a:p>
          <a:p>
            <a:r>
              <a:rPr lang="en-US" dirty="0"/>
              <a:t>Is that sufficient?... Any other consideration?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A451-B8B7-4446-93E0-831E6665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F8EC1-730E-42C0-8AF7-136676E8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C05DD-DB91-4A3A-8AA9-0B487C1F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67AA58-981E-404E-980A-F42875FE140D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ACC0A-10BC-46C9-AC2C-B7C5ADD7C47B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</p:spTree>
    <p:extLst>
      <p:ext uri="{BB962C8B-B14F-4D97-AF65-F5344CB8AC3E}">
        <p14:creationId xmlns:p14="http://schemas.microsoft.com/office/powerpoint/2010/main" val="345878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69ED-8C64-4B17-AC7F-B6FC050A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br>
              <a:rPr lang="en-US" dirty="0"/>
            </a:br>
            <a:r>
              <a:rPr lang="en-US" dirty="0"/>
              <a:t>Reuse </a:t>
            </a:r>
            <a:r>
              <a:rPr lang="en-US" dirty="0" err="1"/>
              <a:t>datapath</a:t>
            </a:r>
            <a:r>
              <a:rPr lang="en-US" dirty="0"/>
              <a:t>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7F43-05F4-4714-8351-344024CE2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410200" cy="3238065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parts can be reused for avoiding hardware duplication?</a:t>
            </a:r>
          </a:p>
          <a:p>
            <a:r>
              <a:rPr lang="en-US" dirty="0"/>
              <a:t>ALU can be reused for:</a:t>
            </a:r>
          </a:p>
          <a:p>
            <a:pPr lvl="1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 PC + 4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Comparison (branch comparator)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Original ALU computations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Will our current breaks be sufficient for ALU reuse?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What about MEM reuse?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56803-B017-4366-B967-A86A2377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5A2D6-B8A7-47F1-85D8-233542DA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CAE89-B4A4-4BC3-B1F2-AA9D0BC7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8649E1-4A92-4BDE-830F-0B54B11E7CCB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5E092-A317-4C90-B56D-D63A8C9AC992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24D130-EEE1-406C-A08F-14289B09FEBD}"/>
              </a:ext>
            </a:extLst>
          </p:cNvPr>
          <p:cNvSpPr txBox="1">
            <a:spLocks/>
          </p:cNvSpPr>
          <p:nvPr/>
        </p:nvSpPr>
        <p:spPr bwMode="auto">
          <a:xfrm>
            <a:off x="5724524" y="1446211"/>
            <a:ext cx="3267075" cy="2668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Cycle 1: IF </a:t>
            </a:r>
            <a:r>
              <a:rPr lang="en-US" sz="2400" dirty="0">
                <a:sym typeface="Wingdings" panose="05000000000000000000" pitchFamily="2" charset="2"/>
              </a:rPr>
              <a:t> OF  EX (ALU used!)</a:t>
            </a:r>
          </a:p>
          <a:p>
            <a:r>
              <a:rPr lang="en-US" sz="2400" dirty="0">
                <a:sym typeface="Wingdings" panose="05000000000000000000" pitchFamily="2" charset="2"/>
              </a:rPr>
              <a:t>Cycle 2: PC  PC + 4 (ALU reused!)</a:t>
            </a:r>
          </a:p>
          <a:p>
            <a:r>
              <a:rPr lang="en-US" sz="2400" dirty="0">
                <a:sym typeface="Wingdings" panose="05000000000000000000" pitchFamily="2" charset="2"/>
              </a:rPr>
              <a:t>What about branch comparison reuse?</a:t>
            </a: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11EBC-D711-4F4E-BDA5-C23861048E04}"/>
              </a:ext>
            </a:extLst>
          </p:cNvPr>
          <p:cNvSpPr/>
          <p:nvPr/>
        </p:nvSpPr>
        <p:spPr>
          <a:xfrm>
            <a:off x="1557338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95724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B2A6-F625-4952-B3FD-787C0FDD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Optimize critical path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60B6-3DB1-4D6F-BBBD-3C3FCA20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2971800" cy="3430589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How long does each stage currently take?</a:t>
            </a:r>
          </a:p>
          <a:p>
            <a:r>
              <a:rPr lang="en-US" dirty="0"/>
              <a:t>Where to break for better time management?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3AEBA-89D5-4FDD-ABCC-FDA41A7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FFE7E-7205-46F2-91C3-2E514833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787A4-5F2E-4881-98D3-41A40837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F2776C-38DE-483B-80D4-D260E06E4B4F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DD7C6-BEC3-4708-9E6F-0D2457537CCC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D05BB33-630F-45C1-BC5E-E85DCA7D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211261"/>
            <a:ext cx="5941371" cy="374173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AFC976A-542A-4CBE-9B64-15FC469350A8}"/>
              </a:ext>
            </a:extLst>
          </p:cNvPr>
          <p:cNvSpPr/>
          <p:nvPr/>
        </p:nvSpPr>
        <p:spPr>
          <a:xfrm>
            <a:off x="1557338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22A355-1B17-4B4F-91C2-1D5C2E0850B0}"/>
              </a:ext>
            </a:extLst>
          </p:cNvPr>
          <p:cNvGrpSpPr/>
          <p:nvPr/>
        </p:nvGrpSpPr>
        <p:grpSpPr>
          <a:xfrm>
            <a:off x="3405188" y="4566087"/>
            <a:ext cx="466725" cy="2162532"/>
            <a:chOff x="3405188" y="4566087"/>
            <a:chExt cx="466725" cy="216253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A99E3B-C600-4947-8F20-B4BFC5DDFA3C}"/>
                </a:ext>
              </a:extLst>
            </p:cNvPr>
            <p:cNvSpPr/>
            <p:nvPr/>
          </p:nvSpPr>
          <p:spPr>
            <a:xfrm>
              <a:off x="3405188" y="4566087"/>
              <a:ext cx="457200" cy="101362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2D4C4D1-024F-40D6-BCEE-B1E788EE56EB}"/>
                </a:ext>
              </a:extLst>
            </p:cNvPr>
            <p:cNvSpPr/>
            <p:nvPr/>
          </p:nvSpPr>
          <p:spPr>
            <a:xfrm>
              <a:off x="3414713" y="5715000"/>
              <a:ext cx="457200" cy="101361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34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5984-B7DF-47B6-859E-CE76C2A8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39FC5-8042-495F-AAA2-C115034E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38367-D7D2-43FF-9B19-4D6ED881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BF729B-B201-4512-AD94-011EAEC7D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488441"/>
            <a:ext cx="8839200" cy="4930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BE1164-D8E5-47F5-A68D-49C81A2DAA7D}"/>
              </a:ext>
            </a:extLst>
          </p:cNvPr>
          <p:cNvSpPr/>
          <p:nvPr/>
        </p:nvSpPr>
        <p:spPr>
          <a:xfrm>
            <a:off x="2819400" y="4038600"/>
            <a:ext cx="1371600" cy="1219200"/>
          </a:xfrm>
          <a:prstGeom prst="rect">
            <a:avLst/>
          </a:prstGeom>
          <a:noFill/>
          <a:ln w="38100">
            <a:solidFill>
              <a:srgbClr val="EA3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2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9D9A-38DB-4BE0-A58C-6DC86E95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lw</a:t>
            </a:r>
            <a:r>
              <a:rPr lang="en-US" dirty="0"/>
              <a:t>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3320-71FD-46FA-862E-374F2D6E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</a:t>
            </a:r>
          </a:p>
          <a:p>
            <a:pPr lvl="1"/>
            <a:r>
              <a:rPr lang="en-US" dirty="0"/>
              <a:t>IR </a:t>
            </a:r>
            <a:r>
              <a:rPr lang="en-US" dirty="0">
                <a:sym typeface="Wingdings" panose="05000000000000000000" pitchFamily="2" charset="2"/>
              </a:rPr>
              <a:t> Mem[PC]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PC  PC + 4</a:t>
            </a:r>
          </a:p>
          <a:p>
            <a:r>
              <a:rPr lang="en-US" dirty="0">
                <a:sym typeface="Wingdings" panose="05000000000000000000" pitchFamily="2" charset="2"/>
              </a:rPr>
              <a:t>ID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  </a:t>
            </a:r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[rs1]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  </a:t>
            </a:r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[rs2]</a:t>
            </a:r>
          </a:p>
          <a:p>
            <a:r>
              <a:rPr lang="en-US" dirty="0">
                <a:sym typeface="Wingdings" panose="05000000000000000000" pitchFamily="2" charset="2"/>
              </a:rPr>
              <a:t>EX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ALUOut</a:t>
            </a:r>
            <a:r>
              <a:rPr lang="en-US" dirty="0">
                <a:sym typeface="Wingdings" panose="05000000000000000000" pitchFamily="2" charset="2"/>
              </a:rPr>
              <a:t>  A + </a:t>
            </a:r>
            <a:r>
              <a:rPr lang="en-US" dirty="0" err="1">
                <a:sym typeface="Wingdings" panose="05000000000000000000" pitchFamily="2" charset="2"/>
              </a:rPr>
              <a:t>Imm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MEM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MDR  Mem[</a:t>
            </a:r>
            <a:r>
              <a:rPr lang="en-US" dirty="0" err="1">
                <a:sym typeface="Wingdings" panose="05000000000000000000" pitchFamily="2" charset="2"/>
              </a:rPr>
              <a:t>ALUOut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WB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</a:t>
            </a:r>
            <a:r>
              <a:rPr lang="en-US" dirty="0" err="1">
                <a:sym typeface="Wingdings" panose="05000000000000000000" pitchFamily="2" charset="2"/>
              </a:rPr>
              <a:t>rd</a:t>
            </a:r>
            <a:r>
              <a:rPr lang="en-US" dirty="0">
                <a:sym typeface="Wingdings" panose="05000000000000000000" pitchFamily="2" charset="2"/>
              </a:rPr>
              <a:t>]  MDR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FD54-90F3-470A-926F-25D41DA1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C3318-E3CD-42D9-B3F3-210E8E2F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AEF9C3-BA02-4A9A-8EF8-EA133E377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24200" y="838200"/>
            <a:ext cx="6019800" cy="33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4A8E29-673A-4CC7-BCF7-D91840CC5F1E}"/>
              </a:ext>
            </a:extLst>
          </p:cNvPr>
          <p:cNvSpPr txBox="1">
            <a:spLocks/>
          </p:cNvSpPr>
          <p:nvPr/>
        </p:nvSpPr>
        <p:spPr bwMode="auto">
          <a:xfrm>
            <a:off x="4581525" y="5112543"/>
            <a:ext cx="4495800" cy="134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</a:rPr>
              <a:t>How many cycles for R-type?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How many for branch?</a:t>
            </a:r>
          </a:p>
        </p:txBody>
      </p:sp>
    </p:spTree>
    <p:extLst>
      <p:ext uri="{BB962C8B-B14F-4D97-AF65-F5344CB8AC3E}">
        <p14:creationId xmlns:p14="http://schemas.microsoft.com/office/powerpoint/2010/main" val="32513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0027-48E9-4F87-8430-FEA507B0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execution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167B-4A9B-4BFF-94C7-18317174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Execution time is no longer fixed, but instruction dependent</a:t>
            </a:r>
          </a:p>
          <a:p>
            <a:r>
              <a:rPr lang="en-US" dirty="0"/>
              <a:t>Average execution time depends on the mix of instructions</a:t>
            </a:r>
          </a:p>
          <a:p>
            <a:r>
              <a:rPr lang="en-US" dirty="0">
                <a:solidFill>
                  <a:srgbClr val="EA3F26"/>
                </a:solidFill>
              </a:rPr>
              <a:t>Execution time for R-type multicycle?</a:t>
            </a:r>
          </a:p>
          <a:p>
            <a:r>
              <a:rPr lang="en-US" dirty="0"/>
              <a:t>Wow… what just happened?</a:t>
            </a:r>
          </a:p>
          <a:p>
            <a:pPr lvl="1"/>
            <a:r>
              <a:rPr lang="en-US" dirty="0"/>
              <a:t>We wanted to speed up things by not doing unnecessary computations</a:t>
            </a:r>
          </a:p>
          <a:p>
            <a:pPr lvl="1"/>
            <a:r>
              <a:rPr lang="en-US" dirty="0"/>
              <a:t>We successfully avoided unnecessary computations</a:t>
            </a:r>
          </a:p>
          <a:p>
            <a:pPr lvl="1"/>
            <a:r>
              <a:rPr lang="en-US" dirty="0"/>
              <a:t>But execution time increased?!</a:t>
            </a:r>
          </a:p>
          <a:p>
            <a:r>
              <a:rPr lang="en-US" dirty="0">
                <a:solidFill>
                  <a:srgbClr val="FFC000"/>
                </a:solidFill>
              </a:rPr>
              <a:t>Short stages unnecessarily waste time waiting for infrequent long stages!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7924-F52C-463D-B456-1CEF90DF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86A1E-D015-44D6-BF94-0473A3A9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C25819-809C-42D1-B8E6-558ADB58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555" y="2819400"/>
            <a:ext cx="229584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AE53-BEA2-4896-AF1F-1B79FBBF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multicycle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9CAB7-7AA3-44A7-99DA-356414A4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A3F26"/>
                </a:solidFill>
              </a:rPr>
              <a:t>What are the other advantages of multicycle?</a:t>
            </a:r>
          </a:p>
          <a:p>
            <a:r>
              <a:rPr lang="en-US" dirty="0"/>
              <a:t>Multicycle (without parallelization) was commercially viable in the 80s!</a:t>
            </a:r>
          </a:p>
          <a:p>
            <a:r>
              <a:rPr lang="en-US" dirty="0"/>
              <a:t>Multicycle allowed complex instruction sets</a:t>
            </a:r>
          </a:p>
          <a:p>
            <a:r>
              <a:rPr lang="en-US" dirty="0">
                <a:solidFill>
                  <a:srgbClr val="EA3F26"/>
                </a:solidFill>
              </a:rPr>
              <a:t>Under what circumstances can multicycle actually be faster?</a:t>
            </a:r>
          </a:p>
          <a:p>
            <a:r>
              <a:rPr lang="en-US" dirty="0"/>
              <a:t>Given the slow memory, can we somehow gain speed improvement with multicycle?</a:t>
            </a:r>
          </a:p>
          <a:p>
            <a:r>
              <a:rPr lang="en-US" dirty="0"/>
              <a:t>Variable latency multicycle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3CA21-D1C6-4D23-8646-DEBD126E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E69F-4DEF-4F86-8D15-1C0528CB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10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54A4-1AC6-4EBE-9262-5E5B05B5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becomes sequential </a:t>
            </a:r>
            <a:r>
              <a:rPr lang="en-US" dirty="0">
                <a:sym typeface="Wingdings" panose="05000000000000000000" pitchFamily="2" charset="2"/>
              </a:rPr>
              <a:t> FSM based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4C03-C816-406F-A23B-452AD55F4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Finite state machine:</a:t>
            </a:r>
          </a:p>
          <a:p>
            <a:r>
              <a:rPr lang="en-US" dirty="0"/>
              <a:t>States</a:t>
            </a:r>
          </a:p>
          <a:p>
            <a:r>
              <a:rPr lang="en-US" dirty="0"/>
              <a:t>Input and state-dependent transitions between states</a:t>
            </a:r>
          </a:p>
          <a:p>
            <a:r>
              <a:rPr lang="en-US" dirty="0"/>
              <a:t>Outputs in each state</a:t>
            </a:r>
          </a:p>
          <a:p>
            <a:pPr lvl="1"/>
            <a:r>
              <a:rPr lang="en-US" dirty="0"/>
              <a:t>State-dependent output (no input dependence): Moore</a:t>
            </a:r>
          </a:p>
          <a:p>
            <a:pPr lvl="2"/>
            <a:r>
              <a:rPr lang="en-US" dirty="0"/>
              <a:t>Cleaner timing… </a:t>
            </a:r>
            <a:r>
              <a:rPr lang="en-US" dirty="0">
                <a:solidFill>
                  <a:srgbClr val="EA3F26"/>
                </a:solidFill>
              </a:rPr>
              <a:t>why?</a:t>
            </a:r>
          </a:p>
          <a:p>
            <a:pPr lvl="2"/>
            <a:r>
              <a:rPr lang="en-US" dirty="0"/>
              <a:t>Signals change only at clock cycles, not in between</a:t>
            </a:r>
          </a:p>
          <a:p>
            <a:pPr lvl="1"/>
            <a:r>
              <a:rPr lang="en-US" dirty="0"/>
              <a:t>State + input dependent output: Mealy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72BF-C6E3-41D9-A8CE-E605E4AF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7483D-67A9-4B2F-8419-F9CF5E5E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9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4FCE-CCF0-4CE3-9324-09720141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states do we need in our RV32I multicycle processor?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9C76117-F21F-4DE3-AB48-22C67ED65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784838"/>
            <a:ext cx="8640381" cy="467742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B3D2-BF7A-4AD1-B9EF-28229688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9A578-B8BD-45E4-AF4F-701CFB70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DEE563-0C6A-4999-B67D-47D49AE4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1143000"/>
            <a:ext cx="4572377" cy="130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3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8B70-2B5D-4975-AFE8-F26C6351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C06F5-DCC7-494C-9B26-CB5937FE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register</a:t>
            </a:r>
          </a:p>
          <a:p>
            <a:r>
              <a:rPr lang="en-US" dirty="0"/>
              <a:t>Updated to next state with combinational logic</a:t>
            </a:r>
          </a:p>
          <a:p>
            <a:r>
              <a:rPr lang="en-US" dirty="0"/>
              <a:t>State-dependent combinational output logic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D080-55B4-434E-A5C2-ABEBF1CF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7A27D-CAF2-4E33-BFBA-B69EC793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992EA8-C713-425D-8835-CEF6C2F18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193"/>
          <a:stretch/>
        </p:blipFill>
        <p:spPr>
          <a:xfrm>
            <a:off x="152400" y="3130313"/>
            <a:ext cx="8839966" cy="374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8A17A4-F6AB-4A12-BA0F-291B9D44DE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514"/>
          <a:stretch/>
        </p:blipFill>
        <p:spPr>
          <a:xfrm>
            <a:off x="151634" y="3130314"/>
            <a:ext cx="805195" cy="3330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232DA-B115-4CA3-8D3D-82BF79939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" r="-4131" b="82835"/>
          <a:stretch/>
        </p:blipFill>
        <p:spPr>
          <a:xfrm>
            <a:off x="151634" y="3130314"/>
            <a:ext cx="8839200" cy="571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76A0DB-855B-4C0B-83A8-864DE4313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" r="-4131"/>
          <a:stretch/>
        </p:blipFill>
        <p:spPr>
          <a:xfrm>
            <a:off x="151634" y="3130313"/>
            <a:ext cx="8839200" cy="33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C38A-81EF-4ED9-BBFE-139DBCF3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3CA922-01E4-4124-B561-5013DBB01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275194"/>
              </p:ext>
            </p:extLst>
          </p:nvPr>
        </p:nvGraphicFramePr>
        <p:xfrm>
          <a:off x="784696" y="1446213"/>
          <a:ext cx="7574607" cy="5014912"/>
        </p:xfrm>
        <a:graphic>
          <a:graphicData uri="http://schemas.openxmlformats.org/drawingml/2006/table">
            <a:tbl>
              <a:tblPr/>
              <a:tblGrid>
                <a:gridCol w="2524869">
                  <a:extLst>
                    <a:ext uri="{9D8B030D-6E8A-4147-A177-3AD203B41FA5}">
                      <a16:colId xmlns:a16="http://schemas.microsoft.com/office/drawing/2014/main" val="3555771227"/>
                    </a:ext>
                  </a:extLst>
                </a:gridCol>
                <a:gridCol w="2524869">
                  <a:extLst>
                    <a:ext uri="{9D8B030D-6E8A-4147-A177-3AD203B41FA5}">
                      <a16:colId xmlns:a16="http://schemas.microsoft.com/office/drawing/2014/main" val="1759779389"/>
                    </a:ext>
                  </a:extLst>
                </a:gridCol>
                <a:gridCol w="2524869">
                  <a:extLst>
                    <a:ext uri="{9D8B030D-6E8A-4147-A177-3AD203B41FA5}">
                      <a16:colId xmlns:a16="http://schemas.microsoft.com/office/drawing/2014/main" val="2250642826"/>
                    </a:ext>
                  </a:extLst>
                </a:gridCol>
              </a:tblGrid>
              <a:tr h="31343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Current State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Instruction / Condition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Next State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85390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S0 (IF)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S1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48728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S1 (ID)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S5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131938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S2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83612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S2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145291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BEQ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S7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086457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J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S8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704034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S2 (ADDR)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S3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627781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S9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6622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S3 (MEM_READ)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S4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6252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S4 (LOAD_WB)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20562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S5 (R_EXEC)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S6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11895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S6 (R_WB)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71395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S7 (BRANCH)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450292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S8 (JUMP)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15213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S9 (MEM_WRITE)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64767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A4EA2-4D0E-4D79-998D-837E30F4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FB17D-795C-441D-9F6F-D94ED337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487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D673-0270-4043-8C95-31F020C5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with a hardwired FSM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3EF8-5778-4AC7-A209-57E1565A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for large ISAs</a:t>
            </a:r>
          </a:p>
          <a:p>
            <a:r>
              <a:rPr lang="en-US" dirty="0"/>
              <a:t>Difficult to modify</a:t>
            </a:r>
          </a:p>
          <a:p>
            <a:r>
              <a:rPr lang="en-US" dirty="0"/>
              <a:t>State explosion – adding one new instruction can substantially increase the number of states!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827-AE0F-4360-BAA9-FAEED285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B6DCF-674B-4CDE-B923-1BC04CB3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19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14058</TotalTime>
  <Words>755</Words>
  <Application>Microsoft Office PowerPoint</Application>
  <PresentationFormat>On-screen Show (4:3)</PresentationFormat>
  <Paragraphs>180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Computer Architecture</vt:lpstr>
      <vt:lpstr>The shortcomings of a single cycle CPU</vt:lpstr>
      <vt:lpstr>Long monolithic datapath – the root problem with single cycle CPU</vt:lpstr>
      <vt:lpstr>The single cycle RV32l datapath</vt:lpstr>
      <vt:lpstr>How to break the datapath?</vt:lpstr>
      <vt:lpstr>Where to break the datapath? Avoid unnecessary computations</vt:lpstr>
      <vt:lpstr>Where to break the datapath Reuse datapath components</vt:lpstr>
      <vt:lpstr>Where to break the datapath? Optimize critical path length</vt:lpstr>
      <vt:lpstr>Where to break the datapath?</vt:lpstr>
      <vt:lpstr>Example: lw execution</vt:lpstr>
      <vt:lpstr>Average execution time</vt:lpstr>
      <vt:lpstr>Evaluating multicycle</vt:lpstr>
      <vt:lpstr>Control becomes sequential  FSM based control</vt:lpstr>
      <vt:lpstr>What states do we need in our RV32I multicycle processor?</vt:lpstr>
      <vt:lpstr>Implementing control</vt:lpstr>
      <vt:lpstr>Transition table</vt:lpstr>
      <vt:lpstr>The challenge with a hardwired FSM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706</cp:revision>
  <dcterms:created xsi:type="dcterms:W3CDTF">2010-01-15T20:22:21Z</dcterms:created>
  <dcterms:modified xsi:type="dcterms:W3CDTF">2026-02-13T09:34:49Z</dcterms:modified>
</cp:coreProperties>
</file>